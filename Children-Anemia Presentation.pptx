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0"/>
  </p:notesMasterIdLst>
  <p:sldIdLst>
    <p:sldId id="267" r:id="rId2"/>
    <p:sldId id="266" r:id="rId3"/>
    <p:sldId id="265" r:id="rId4"/>
    <p:sldId id="268" r:id="rId5"/>
    <p:sldId id="269" r:id="rId6"/>
    <p:sldId id="270" r:id="rId7"/>
    <p:sldId id="271" r:id="rId8"/>
    <p:sldId id="27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75" d="100"/>
          <a:sy n="75" d="100"/>
        </p:scale>
        <p:origin x="54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ownloads\Children_Anemia_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ownloads\Children_Anemia_Analysis.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US"/>
              <a:t>Anemia Severity Levels</a:t>
            </a:r>
          </a:p>
        </c:rich>
      </c:tx>
      <c:overlay val="1"/>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US"/>
        </a:p>
      </c:txPr>
    </c:title>
    <c:autoTitleDeleted val="0"/>
    <c:plotArea>
      <c:layout>
        <c:manualLayout>
          <c:layoutTarget val="inner"/>
          <c:xMode val="edge"/>
          <c:yMode val="edge"/>
          <c:x val="0.13501284722222223"/>
          <c:y val="0.11994444444444445"/>
          <c:w val="0.8275045138888889"/>
          <c:h val="0.71119638888888892"/>
        </c:manualLayout>
      </c:layout>
      <c:barChart>
        <c:barDir val="col"/>
        <c:grouping val="clustered"/>
        <c:varyColors val="1"/>
        <c:ser>
          <c:idx val="0"/>
          <c:order val="0"/>
          <c:tx>
            <c:strRef>
              <c:f>'2. Overall Statistics'!$B$9</c:f>
              <c:strCache>
                <c:ptCount val="1"/>
              </c:strCache>
            </c:strRef>
          </c:tx>
          <c:invertIfNegative val="1"/>
          <c:dPt>
            <c:idx val="0"/>
            <c:invertIfNegative val="1"/>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7174-41B4-9029-52625B2FF533}"/>
              </c:ext>
            </c:extLst>
          </c:dPt>
          <c:dPt>
            <c:idx val="1"/>
            <c:invertIfNegative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3-7174-41B4-9029-52625B2FF533}"/>
              </c:ext>
            </c:extLst>
          </c:dPt>
          <c:dPt>
            <c:idx val="2"/>
            <c:invertIfNegative val="1"/>
            <c:bubble3D val="0"/>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5-7174-41B4-9029-52625B2FF533}"/>
              </c:ext>
            </c:extLst>
          </c:dPt>
          <c:dPt>
            <c:idx val="3"/>
            <c:invertIfNegative val="1"/>
            <c:bubble3D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7-7174-41B4-9029-52625B2FF533}"/>
              </c:ext>
            </c:extLst>
          </c:dPt>
          <c:cat>
            <c:strRef>
              <c:f>'2. Overall Statistics'!$A$10:$A$13</c:f>
              <c:strCache>
                <c:ptCount val="4"/>
                <c:pt idx="0">
                  <c:v>Not anemic</c:v>
                </c:pt>
                <c:pt idx="1">
                  <c:v>Mild</c:v>
                </c:pt>
                <c:pt idx="2">
                  <c:v>Moderate</c:v>
                </c:pt>
                <c:pt idx="3">
                  <c:v>Severe</c:v>
                </c:pt>
              </c:strCache>
            </c:strRef>
          </c:cat>
          <c:val>
            <c:numRef>
              <c:f>'2. Overall Statistics'!$B$10:$B$13</c:f>
              <c:numCache>
                <c:formatCode>0.0"%"</c:formatCode>
                <c:ptCount val="4"/>
                <c:pt idx="0">
                  <c:v>31.22176389707327</c:v>
                </c:pt>
                <c:pt idx="1">
                  <c:v>27.047731290512669</c:v>
                </c:pt>
                <c:pt idx="2">
                  <c:v>38.568061284619922</c:v>
                </c:pt>
                <c:pt idx="3">
                  <c:v>3.1624435277941472</c:v>
                </c:pt>
              </c:numCache>
            </c:numRef>
          </c:val>
          <c:extLst>
            <c:ext xmlns:c16="http://schemas.microsoft.com/office/drawing/2014/chart" uri="{C3380CC4-5D6E-409C-BE32-E72D297353CC}">
              <c16:uniqueId val="{00000008-7174-41B4-9029-52625B2FF533}"/>
            </c:ext>
          </c:extLst>
        </c:ser>
        <c:dLbls>
          <c:showLegendKey val="0"/>
          <c:showVal val="0"/>
          <c:showCatName val="0"/>
          <c:showSerName val="0"/>
          <c:showPercent val="0"/>
          <c:showBubbleSize val="0"/>
        </c:dLbls>
        <c:gapWidth val="100"/>
        <c:overlap val="-24"/>
        <c:axId val="10"/>
        <c:axId val="100"/>
      </c:barChart>
      <c:catAx>
        <c:axId val="10"/>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tx2"/>
                    </a:solidFill>
                    <a:latin typeface="+mn-lt"/>
                    <a:ea typeface="+mn-ea"/>
                    <a:cs typeface="+mn-cs"/>
                  </a:defRPr>
                </a:pPr>
                <a:r>
                  <a:rPr lang="en-US"/>
                  <a:t>Anemia Level</a:t>
                </a:r>
              </a:p>
            </c:rich>
          </c:tx>
          <c:layout>
            <c:manualLayout>
              <c:xMode val="edge"/>
              <c:yMode val="edge"/>
              <c:x val="0.46259913194444446"/>
              <c:y val="0.90877111111111109"/>
            </c:manualLayout>
          </c:layout>
          <c:overlay val="1"/>
          <c:spPr>
            <a:noFill/>
            <a:ln>
              <a:noFill/>
            </a:ln>
            <a:effectLst/>
          </c:spPr>
          <c:txPr>
            <a:bodyPr rot="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00"/>
        <c:crosses val="autoZero"/>
        <c:auto val="1"/>
        <c:lblAlgn val="ctr"/>
        <c:lblOffset val="100"/>
        <c:noMultiLvlLbl val="1"/>
      </c:catAx>
      <c:valAx>
        <c:axId val="100"/>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900" b="1" i="0" u="none" strike="noStrike" kern="1200" baseline="0">
                    <a:solidFill>
                      <a:schemeClr val="tx2"/>
                    </a:solidFill>
                    <a:latin typeface="+mn-lt"/>
                    <a:ea typeface="+mn-ea"/>
                    <a:cs typeface="+mn-cs"/>
                  </a:defRPr>
                </a:pPr>
                <a:r>
                  <a:rPr lang="en-US"/>
                  <a:t>Percent (%)</a:t>
                </a:r>
              </a:p>
            </c:rich>
          </c:tx>
          <c:layout>
            <c:manualLayout>
              <c:xMode val="edge"/>
              <c:yMode val="edge"/>
              <c:x val="2.204861111111111E-3"/>
              <c:y val="0.3538872222222223"/>
            </c:manualLayout>
          </c:layout>
          <c:overlay val="1"/>
          <c:spPr>
            <a:noFill/>
            <a:ln>
              <a:noFill/>
            </a:ln>
            <a:effectLst/>
          </c:spPr>
          <c:txPr>
            <a:bodyPr rot="-540000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title>
        <c:numFmt formatCode="0.0&quot;%&quot;"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0"/>
        <c:crosses val="autoZero"/>
        <c:crossBetween val="between"/>
      </c:valAx>
      <c:spPr>
        <a:noFill/>
        <a:ln>
          <a:noFill/>
        </a:ln>
        <a:effectLst/>
      </c:spPr>
    </c:plotArea>
    <c:legend>
      <c:legendPos val="b"/>
      <c:layout>
        <c:manualLayout>
          <c:xMode val="edge"/>
          <c:yMode val="edge"/>
          <c:x val="0.57100312500000006"/>
          <c:y val="0.96163500000000013"/>
          <c:w val="0.42243802083333332"/>
          <c:h val="3.1309444444444438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US"/>
        </a:p>
      </c:txPr>
    </c:legend>
    <c:plotVisOnly val="1"/>
    <c:dispBlanksAs val="gap"/>
    <c:showDLblsOverMax val="1"/>
  </c:chart>
  <c:spPr>
    <a:noFill/>
    <a:ln w="28575">
      <a:solidFill>
        <a:schemeClr val="accent2">
          <a:lumMod val="60000"/>
          <a:lumOff val="40000"/>
        </a:schemeClr>
      </a:solidFill>
    </a:ln>
    <a:effectLst>
      <a:glow rad="63500">
        <a:schemeClr val="accent2">
          <a:satMod val="175000"/>
          <a:alpha val="40000"/>
        </a:schemeClr>
      </a:glow>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[Children_Anemia_Analysis.xlsx]Sheet5!PivotTable10</c:name>
    <c:fmtId val="9"/>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Sheet5!$B$52:$B$53</c:f>
              <c:strCache>
                <c:ptCount val="1"/>
                <c:pt idx="0">
                  <c:v>Rural</c:v>
                </c:pt>
              </c:strCache>
            </c:strRef>
          </c:tx>
          <c:spPr>
            <a:solidFill>
              <a:schemeClr val="accent1"/>
            </a:solidFill>
            <a:ln>
              <a:noFill/>
            </a:ln>
            <a:effectLst/>
          </c:spPr>
          <c:invertIfNegative val="0"/>
          <c:cat>
            <c:strRef>
              <c:f>Sheet5!$A$54:$A$59</c:f>
              <c:strCache>
                <c:ptCount val="5"/>
                <c:pt idx="0">
                  <c:v>Middle</c:v>
                </c:pt>
                <c:pt idx="1">
                  <c:v>Poorer</c:v>
                </c:pt>
                <c:pt idx="2">
                  <c:v>Poorest</c:v>
                </c:pt>
                <c:pt idx="3">
                  <c:v>Richer</c:v>
                </c:pt>
                <c:pt idx="4">
                  <c:v>Richest</c:v>
                </c:pt>
              </c:strCache>
            </c:strRef>
          </c:cat>
          <c:val>
            <c:numRef>
              <c:f>Sheet5!$B$54:$B$59</c:f>
              <c:numCache>
                <c:formatCode>General</c:formatCode>
                <c:ptCount val="5"/>
                <c:pt idx="0">
                  <c:v>1406</c:v>
                </c:pt>
                <c:pt idx="1">
                  <c:v>1705</c:v>
                </c:pt>
                <c:pt idx="2">
                  <c:v>1873</c:v>
                </c:pt>
                <c:pt idx="3">
                  <c:v>834</c:v>
                </c:pt>
                <c:pt idx="4">
                  <c:v>401</c:v>
                </c:pt>
              </c:numCache>
            </c:numRef>
          </c:val>
          <c:extLst>
            <c:ext xmlns:c16="http://schemas.microsoft.com/office/drawing/2014/chart" uri="{C3380CC4-5D6E-409C-BE32-E72D297353CC}">
              <c16:uniqueId val="{00000000-A697-4050-B043-AF7B06D091FF}"/>
            </c:ext>
          </c:extLst>
        </c:ser>
        <c:ser>
          <c:idx val="1"/>
          <c:order val="1"/>
          <c:tx>
            <c:strRef>
              <c:f>Sheet5!$C$52:$C$53</c:f>
              <c:strCache>
                <c:ptCount val="1"/>
                <c:pt idx="0">
                  <c:v>Urban</c:v>
                </c:pt>
              </c:strCache>
            </c:strRef>
          </c:tx>
          <c:spPr>
            <a:solidFill>
              <a:schemeClr val="accent2"/>
            </a:solidFill>
            <a:ln>
              <a:noFill/>
            </a:ln>
            <a:effectLst/>
          </c:spPr>
          <c:invertIfNegative val="0"/>
          <c:cat>
            <c:strRef>
              <c:f>Sheet5!$A$54:$A$59</c:f>
              <c:strCache>
                <c:ptCount val="5"/>
                <c:pt idx="0">
                  <c:v>Middle</c:v>
                </c:pt>
                <c:pt idx="1">
                  <c:v>Poorer</c:v>
                </c:pt>
                <c:pt idx="2">
                  <c:v>Poorest</c:v>
                </c:pt>
                <c:pt idx="3">
                  <c:v>Richer</c:v>
                </c:pt>
                <c:pt idx="4">
                  <c:v>Richest</c:v>
                </c:pt>
              </c:strCache>
            </c:strRef>
          </c:cat>
          <c:val>
            <c:numRef>
              <c:f>Sheet5!$C$54:$C$59</c:f>
              <c:numCache>
                <c:formatCode>General</c:formatCode>
                <c:ptCount val="5"/>
                <c:pt idx="0">
                  <c:v>843</c:v>
                </c:pt>
                <c:pt idx="1">
                  <c:v>331</c:v>
                </c:pt>
                <c:pt idx="2">
                  <c:v>169</c:v>
                </c:pt>
                <c:pt idx="3">
                  <c:v>1307</c:v>
                </c:pt>
                <c:pt idx="4">
                  <c:v>1313</c:v>
                </c:pt>
              </c:numCache>
            </c:numRef>
          </c:val>
          <c:extLst>
            <c:ext xmlns:c16="http://schemas.microsoft.com/office/drawing/2014/chart" uri="{C3380CC4-5D6E-409C-BE32-E72D297353CC}">
              <c16:uniqueId val="{00000001-A697-4050-B043-AF7B06D091FF}"/>
            </c:ext>
          </c:extLst>
        </c:ser>
        <c:dLbls>
          <c:showLegendKey val="0"/>
          <c:showVal val="0"/>
          <c:showCatName val="0"/>
          <c:showSerName val="0"/>
          <c:showPercent val="0"/>
          <c:showBubbleSize val="0"/>
        </c:dLbls>
        <c:gapWidth val="199"/>
        <c:axId val="1669869312"/>
        <c:axId val="1669866912"/>
      </c:barChart>
      <c:catAx>
        <c:axId val="1669869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1669866912"/>
        <c:crosses val="autoZero"/>
        <c:auto val="1"/>
        <c:lblAlgn val="ctr"/>
        <c:lblOffset val="100"/>
        <c:noMultiLvlLbl val="0"/>
      </c:catAx>
      <c:valAx>
        <c:axId val="166986691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6986931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8575">
      <a:solidFill>
        <a:schemeClr val="accent2">
          <a:lumMod val="60000"/>
          <a:lumOff val="40000"/>
        </a:schemeClr>
      </a:solidFill>
    </a:ln>
    <a:effectLst>
      <a:glow rad="63500">
        <a:schemeClr val="accent2">
          <a:satMod val="175000"/>
          <a:alpha val="40000"/>
        </a:schemeClr>
      </a:glo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1FEAC8-E980-46CB-AF40-82D0F40782A1}"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4B95BD-75BA-4398-8614-CDE6804E7597}" type="slidenum">
              <a:rPr lang="en-US" smtClean="0"/>
              <a:t>‹#›</a:t>
            </a:fld>
            <a:endParaRPr lang="en-US"/>
          </a:p>
        </p:txBody>
      </p:sp>
    </p:spTree>
    <p:extLst>
      <p:ext uri="{BB962C8B-B14F-4D97-AF65-F5344CB8AC3E}">
        <p14:creationId xmlns:p14="http://schemas.microsoft.com/office/powerpoint/2010/main" val="1587698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state the headline: this deck uses the 2018 Nigeria DHS to show how a mother's education and household wealth relate to whether her child is anemic. Two related questions, one story: socioeconomic disadvantage and child anemia.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Anemia is common, costly to a child's development, and expensive to prevent everywhere at once. If risk concentrates in specific groups, prevention resources can be targeted more efficiently — that's the practical motivation for this analysis.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sample: 33,924 total records, 13,136 with a usable anemia reading. Note the duplicate-variable decision briefly — we picked the more complete, child-relevant anemia field. Method is simple group comparisons plus one stratified check; results are associations, not proof of causation.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6 in 10 children in the analytic sample were anemic to some degree, and most anemic children fall in the mild-to-moderate range rather than severe. This sets the scale of the problem before looking at who is most affected.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finding: anemia prevalence declines steadily as mother's education rises, and separately as household wealth rises. Both gradients are roughly 16-18 percentage points from the lowest to the highest group, and both are statistically significant.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check, we split the wealth comparison by urban and rural residence. The wealth gradient holds in both settings, but rural children remain worse off at every wealth level — even the richest rural children have higher anemia rates than the richest urban children.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together: anemia risk clusters among less-educated, poorer, and rural households. This is a strong enough, large enough pattern to guide where prevention programs are targeted first, while being honest that this data alone can't isolate which specific factor is causing the effect.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limitations — this is cross-sectional survey data with some missingness and an unresolved duplicate variable — and the practical takeaway: prioritize iron supplementation, bed nets, and nutrition education in low-wealth, low-education, and rural communities for the greatest expected impact per child reached.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2C3D7D2-F5C8-4B89-9895-4D999E06AF17}" type="datetimeFigureOut">
              <a:rPr lang="en-US" smtClean="0"/>
              <a:t>9/23/2026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BFB74D1-6F8A-428D-8AB9-461D9413644E}"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3100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C3D7D2-F5C8-4B89-9895-4D999E06AF17}"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B74D1-6F8A-428D-8AB9-461D9413644E}" type="slidenum">
              <a:rPr lang="en-US" smtClean="0"/>
              <a:t>‹#›</a:t>
            </a:fld>
            <a:endParaRPr lang="en-US"/>
          </a:p>
        </p:txBody>
      </p:sp>
    </p:spTree>
    <p:extLst>
      <p:ext uri="{BB962C8B-B14F-4D97-AF65-F5344CB8AC3E}">
        <p14:creationId xmlns:p14="http://schemas.microsoft.com/office/powerpoint/2010/main" val="753368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C3D7D2-F5C8-4B89-9895-4D999E06AF17}"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B74D1-6F8A-428D-8AB9-461D9413644E}"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984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C3D7D2-F5C8-4B89-9895-4D999E06AF17}"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FB74D1-6F8A-428D-8AB9-461D9413644E}" type="slidenum">
              <a:rPr lang="en-US" smtClean="0"/>
              <a:t>‹#›</a:t>
            </a:fld>
            <a:endParaRPr lang="en-US"/>
          </a:p>
        </p:txBody>
      </p:sp>
    </p:spTree>
    <p:extLst>
      <p:ext uri="{BB962C8B-B14F-4D97-AF65-F5344CB8AC3E}">
        <p14:creationId xmlns:p14="http://schemas.microsoft.com/office/powerpoint/2010/main" val="2953231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C3D7D2-F5C8-4B89-9895-4D999E06AF17}"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FB74D1-6F8A-428D-8AB9-461D9413644E}"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3333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C3D7D2-F5C8-4B89-9895-4D999E06AF17}"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FB74D1-6F8A-428D-8AB9-461D9413644E}"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8013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C3D7D2-F5C8-4B89-9895-4D999E06AF17}"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FB74D1-6F8A-428D-8AB9-461D9413644E}" type="slidenum">
              <a:rPr lang="en-US" smtClean="0"/>
              <a:t>‹#›</a:t>
            </a:fld>
            <a:endParaRPr lang="en-US"/>
          </a:p>
        </p:txBody>
      </p:sp>
    </p:spTree>
    <p:extLst>
      <p:ext uri="{BB962C8B-B14F-4D97-AF65-F5344CB8AC3E}">
        <p14:creationId xmlns:p14="http://schemas.microsoft.com/office/powerpoint/2010/main" val="3863494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C3D7D2-F5C8-4B89-9895-4D999E06AF17}"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FB74D1-6F8A-428D-8AB9-461D9413644E}"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3165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C3D7D2-F5C8-4B89-9895-4D999E06AF17}"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FB74D1-6F8A-428D-8AB9-461D9413644E}" type="slidenum">
              <a:rPr lang="en-US" smtClean="0"/>
              <a:t>‹#›</a:t>
            </a:fld>
            <a:endParaRPr lang="en-US"/>
          </a:p>
        </p:txBody>
      </p:sp>
    </p:spTree>
    <p:extLst>
      <p:ext uri="{BB962C8B-B14F-4D97-AF65-F5344CB8AC3E}">
        <p14:creationId xmlns:p14="http://schemas.microsoft.com/office/powerpoint/2010/main" val="2374561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C3D7D2-F5C8-4B89-9895-4D999E06AF17}"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FB74D1-6F8A-428D-8AB9-461D9413644E}" type="slidenum">
              <a:rPr lang="en-US" smtClean="0"/>
              <a:t>‹#›</a:t>
            </a:fld>
            <a:endParaRPr lang="en-US"/>
          </a:p>
        </p:txBody>
      </p:sp>
    </p:spTree>
    <p:extLst>
      <p:ext uri="{BB962C8B-B14F-4D97-AF65-F5344CB8AC3E}">
        <p14:creationId xmlns:p14="http://schemas.microsoft.com/office/powerpoint/2010/main" val="2246871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C3D7D2-F5C8-4B89-9895-4D999E06AF17}"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B74D1-6F8A-428D-8AB9-461D9413644E}"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05528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C3D7D2-F5C8-4B89-9895-4D999E06AF17}"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B74D1-6F8A-428D-8AB9-461D9413644E}"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45819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C3D7D2-F5C8-4B89-9895-4D999E06AF17}"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B74D1-6F8A-428D-8AB9-461D9413644E}" type="slidenum">
              <a:rPr lang="en-US" smtClean="0"/>
              <a:t>‹#›</a:t>
            </a:fld>
            <a:endParaRPr lang="en-US"/>
          </a:p>
        </p:txBody>
      </p:sp>
    </p:spTree>
    <p:extLst>
      <p:ext uri="{BB962C8B-B14F-4D97-AF65-F5344CB8AC3E}">
        <p14:creationId xmlns:p14="http://schemas.microsoft.com/office/powerpoint/2010/main" val="2617233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C3D7D2-F5C8-4B89-9895-4D999E06AF17}"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B74D1-6F8A-428D-8AB9-461D9413644E}"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05806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C3D7D2-F5C8-4B89-9895-4D999E06AF17}"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B74D1-6F8A-428D-8AB9-461D9413644E}"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72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C3D7D2-F5C8-4B89-9895-4D999E06AF17}"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B74D1-6F8A-428D-8AB9-461D9413644E}"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54349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C3D7D2-F5C8-4B89-9895-4D999E06AF17}"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B74D1-6F8A-428D-8AB9-461D9413644E}"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38562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4085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2C3D7D2-F5C8-4B89-9895-4D999E06AF17}" type="datetimeFigureOut">
              <a:rPr lang="en-US" smtClean="0"/>
              <a:t>9/23/2026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BFB74D1-6F8A-428D-8AB9-461D9413644E}" type="slidenum">
              <a:rPr lang="en-US" smtClean="0"/>
              <a:t>‹#›</a:t>
            </a:fld>
            <a:endParaRPr lang="en-US"/>
          </a:p>
        </p:txBody>
      </p:sp>
    </p:spTree>
    <p:extLst>
      <p:ext uri="{BB962C8B-B14F-4D97-AF65-F5344CB8AC3E}">
        <p14:creationId xmlns:p14="http://schemas.microsoft.com/office/powerpoint/2010/main" val="301693022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04A"/>
          </a:solidFill>
          <a:ln/>
        </p:spPr>
        <p:txBody>
          <a:bodyPr/>
          <a:lstStyle/>
          <a:p>
            <a:endParaRPr/>
          </a:p>
        </p:txBody>
      </p:sp>
      <p:sp>
        <p:nvSpPr>
          <p:cNvPr id="3" name="Text 1"/>
          <p:cNvSpPr txBox="1"/>
          <p:nvPr/>
        </p:nvSpPr>
        <p:spPr>
          <a:xfrm>
            <a:off x="822960" y="1554480"/>
            <a:ext cx="10515600" cy="457200"/>
          </a:xfrm>
          <a:prstGeom prst="rect">
            <a:avLst/>
          </a:prstGeom>
          <a:noFill/>
          <a:ln/>
        </p:spPr>
        <p:txBody>
          <a:bodyPr wrap="square" rtlCol="0" anchor="ctr"/>
          <a:lstStyle/>
          <a:p>
            <a:pPr marL="0" indent="0">
              <a:buNone/>
            </a:pPr>
            <a:r>
              <a:rPr lang="en-US" sz="2000" b="1" kern="0" spc="300" dirty="0">
                <a:solidFill>
                  <a:srgbClr val="2A9D8F"/>
                </a:solidFill>
                <a:latin typeface="Times New Roman" panose="02020603050405020304" pitchFamily="18" charset="0"/>
                <a:ea typeface="Calibri" pitchFamily="34" charset="-122"/>
                <a:cs typeface="Times New Roman" panose="02020603050405020304" pitchFamily="18" charset="0"/>
              </a:rPr>
              <a:t>CHILDREN'S ANEMIA IN NIGERIA</a:t>
            </a:r>
            <a:endParaRPr lang="en-US" sz="2000" dirty="0">
              <a:latin typeface="Times New Roman" panose="02020603050405020304" pitchFamily="18" charset="0"/>
              <a:cs typeface="Times New Roman" panose="02020603050405020304" pitchFamily="18" charset="0"/>
            </a:endParaRPr>
          </a:p>
        </p:txBody>
      </p:sp>
      <p:sp>
        <p:nvSpPr>
          <p:cNvPr id="4" name="Text 2"/>
          <p:cNvSpPr txBox="1"/>
          <p:nvPr/>
        </p:nvSpPr>
        <p:spPr>
          <a:xfrm>
            <a:off x="822960" y="2011680"/>
            <a:ext cx="11123234" cy="1371600"/>
          </a:xfrm>
          <a:prstGeom prst="rect">
            <a:avLst/>
          </a:prstGeom>
          <a:noFill/>
          <a:ln/>
        </p:spPr>
        <p:txBody>
          <a:bodyPr wrap="square" rtlCol="0" anchor="ctr"/>
          <a:lstStyle/>
          <a:p>
            <a:pPr marL="0" indent="0">
              <a:buNone/>
            </a:pPr>
            <a:r>
              <a:rPr lang="en-US" sz="4000" b="1" dirty="0">
                <a:solidFill>
                  <a:schemeClr val="bg1"/>
                </a:solidFill>
                <a:latin typeface="Times New Roman" panose="02020603050405020304" pitchFamily="18" charset="0"/>
                <a:ea typeface="Cambria" pitchFamily="34" charset="-122"/>
                <a:cs typeface="Times New Roman" panose="02020603050405020304" pitchFamily="18" charset="0"/>
              </a:rPr>
              <a:t>Socioeconomic Status and Childhood Anemia</a:t>
            </a:r>
            <a:endParaRPr lang="en-US" sz="4000" dirty="0">
              <a:solidFill>
                <a:schemeClr val="bg1"/>
              </a:solidFill>
              <a:latin typeface="Times New Roman" panose="02020603050405020304" pitchFamily="18" charset="0"/>
              <a:cs typeface="Times New Roman" panose="02020603050405020304" pitchFamily="18" charset="0"/>
            </a:endParaRPr>
          </a:p>
        </p:txBody>
      </p:sp>
      <p:sp>
        <p:nvSpPr>
          <p:cNvPr id="5" name="Text 3"/>
          <p:cNvSpPr txBox="1"/>
          <p:nvPr/>
        </p:nvSpPr>
        <p:spPr>
          <a:xfrm>
            <a:off x="822960" y="2934933"/>
            <a:ext cx="11123234" cy="63934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How mother's education and household wealth relate to a child's anemia risk (Data </a:t>
            </a:r>
            <a:r>
              <a:rPr lang="en-US" sz="1400" dirty="0" err="1">
                <a:solidFill>
                  <a:schemeClr val="bg1"/>
                </a:solidFill>
                <a:latin typeface="Calibri" pitchFamily="34" charset="0"/>
                <a:ea typeface="Calibri" pitchFamily="34" charset="-122"/>
                <a:cs typeface="Calibri" pitchFamily="34" charset="-120"/>
              </a:rPr>
              <a:t>analysed</a:t>
            </a:r>
            <a:r>
              <a:rPr lang="en-US" sz="1400" dirty="0">
                <a:solidFill>
                  <a:schemeClr val="bg1"/>
                </a:solidFill>
                <a:latin typeface="Calibri" pitchFamily="34" charset="0"/>
                <a:ea typeface="Calibri" pitchFamily="34" charset="-122"/>
                <a:cs typeface="Calibri" pitchFamily="34" charset="-120"/>
              </a:rPr>
              <a:t> from the 2018 Nigeria Demographic and Health Survey)</a:t>
            </a:r>
            <a:endParaRPr lang="en-US" sz="1400" dirty="0">
              <a:solidFill>
                <a:schemeClr val="bg1"/>
              </a:solidFill>
            </a:endParaRPr>
          </a:p>
        </p:txBody>
      </p:sp>
      <p:sp>
        <p:nvSpPr>
          <p:cNvPr id="6" name="Shape 4"/>
          <p:cNvSpPr/>
          <p:nvPr/>
        </p:nvSpPr>
        <p:spPr>
          <a:xfrm>
            <a:off x="867204" y="3703572"/>
            <a:ext cx="2926080" cy="0"/>
          </a:xfrm>
          <a:prstGeom prst="line">
            <a:avLst/>
          </a:prstGeom>
          <a:noFill/>
          <a:ln w="31750">
            <a:solidFill>
              <a:srgbClr val="2A9D8F"/>
            </a:solidFill>
            <a:prstDash val="solid"/>
          </a:ln>
        </p:spPr>
        <p:txBody>
          <a:bodyPr/>
          <a:lstStyle/>
          <a:p>
            <a:endParaRPr/>
          </a:p>
        </p:txBody>
      </p:sp>
      <p:sp>
        <p:nvSpPr>
          <p:cNvPr id="7" name="Text 5"/>
          <p:cNvSpPr txBox="1"/>
          <p:nvPr/>
        </p:nvSpPr>
        <p:spPr>
          <a:xfrm>
            <a:off x="822960" y="6126480"/>
            <a:ext cx="10058400" cy="365760"/>
          </a:xfrm>
          <a:prstGeom prst="rect">
            <a:avLst/>
          </a:prstGeom>
          <a:noFill/>
          <a:ln/>
        </p:spPr>
        <p:txBody>
          <a:bodyPr wrap="square" rtlCol="0" anchor="ctr"/>
          <a:lstStyle/>
          <a:p>
            <a:pPr marL="0" indent="0">
              <a:buNone/>
            </a:pPr>
            <a:r>
              <a:rPr lang="en-US" sz="1200" dirty="0">
                <a:solidFill>
                  <a:srgbClr val="9AA6C7"/>
                </a:solidFill>
                <a:latin typeface="Times New Roman" panose="02020603050405020304" pitchFamily="18" charset="0"/>
                <a:ea typeface="Calibri" pitchFamily="34" charset="-122"/>
                <a:cs typeface="Times New Roman" panose="02020603050405020304" pitchFamily="18" charset="0"/>
              </a:rPr>
              <a:t>Data Analytics  &amp; AI Project |  September 2026</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64008"/>
            <a:ext cx="11091672" cy="64008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Why This Matters</a:t>
            </a:r>
            <a:endParaRPr lang="en-US" sz="3000" dirty="0">
              <a:latin typeface="Times New Roman" panose="02020603050405020304" pitchFamily="18" charset="0"/>
              <a:cs typeface="Times New Roman" panose="02020603050405020304" pitchFamily="18" charset="0"/>
            </a:endParaRPr>
          </a:p>
        </p:txBody>
      </p:sp>
      <p:sp>
        <p:nvSpPr>
          <p:cNvPr id="3" name="Text 1"/>
          <p:cNvSpPr txBox="1"/>
          <p:nvPr/>
        </p:nvSpPr>
        <p:spPr>
          <a:xfrm>
            <a:off x="725616" y="706452"/>
            <a:ext cx="10741849" cy="365760"/>
          </a:xfrm>
          <a:prstGeom prst="rect">
            <a:avLst/>
          </a:prstGeom>
          <a:noFill/>
          <a:ln/>
        </p:spPr>
        <p:txBody>
          <a:bodyPr wrap="square" rtlCol="0" anchor="ctr"/>
          <a:lstStyle/>
          <a:p>
            <a:pPr marL="0" indent="0">
              <a:buNone/>
            </a:pPr>
            <a:r>
              <a:rPr lang="en-US" i="1" dirty="0">
                <a:solidFill>
                  <a:srgbClr val="2A9D8F"/>
                </a:solidFill>
                <a:latin typeface="Times New Roman" panose="02020603050405020304" pitchFamily="18" charset="0"/>
                <a:ea typeface="Calibri" pitchFamily="34" charset="-122"/>
                <a:cs typeface="Times New Roman" panose="02020603050405020304" pitchFamily="18" charset="0"/>
              </a:rPr>
              <a:t>Anemia is one of Nigeria's most common and preventable child health problems</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755118" y="1308185"/>
            <a:ext cx="3200400" cy="1737360"/>
          </a:xfrm>
          <a:prstGeom prst="roundRect">
            <a:avLst>
              <a:gd name="adj" fmla="val 4211"/>
            </a:avLst>
          </a:prstGeom>
          <a:solidFill>
            <a:srgbClr val="F4F5F7"/>
          </a:solidFill>
          <a:ln w="12700">
            <a:solidFill>
              <a:srgbClr val="E5E7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txBox="1"/>
          <p:nvPr/>
        </p:nvSpPr>
        <p:spPr>
          <a:xfrm>
            <a:off x="937998" y="1472777"/>
            <a:ext cx="2854411" cy="777240"/>
          </a:xfrm>
          <a:prstGeom prst="rect">
            <a:avLst/>
          </a:prstGeom>
          <a:noFill/>
          <a:ln/>
        </p:spPr>
        <p:txBody>
          <a:bodyPr wrap="square" rtlCol="0" anchor="ctr"/>
          <a:lstStyle/>
          <a:p>
            <a:pPr marL="0" indent="0" algn="l">
              <a:buNone/>
            </a:pPr>
            <a:r>
              <a:rPr lang="en-US" sz="3400" b="1" dirty="0">
                <a:solidFill>
                  <a:srgbClr val="1E2761"/>
                </a:solidFill>
                <a:latin typeface="Times New Roman" panose="02020603050405020304" pitchFamily="18" charset="0"/>
                <a:ea typeface="Cambria" pitchFamily="34" charset="-122"/>
                <a:cs typeface="Times New Roman" panose="02020603050405020304" pitchFamily="18" charset="0"/>
              </a:rPr>
              <a:t>68.8%</a:t>
            </a:r>
            <a:endParaRPr lang="en-US" sz="3400" dirty="0">
              <a:latin typeface="Times New Roman" panose="02020603050405020304" pitchFamily="18" charset="0"/>
              <a:cs typeface="Times New Roman" panose="02020603050405020304" pitchFamily="18" charset="0"/>
            </a:endParaRPr>
          </a:p>
        </p:txBody>
      </p:sp>
      <p:sp>
        <p:nvSpPr>
          <p:cNvPr id="6" name="Text 4"/>
          <p:cNvSpPr txBox="1"/>
          <p:nvPr/>
        </p:nvSpPr>
        <p:spPr>
          <a:xfrm>
            <a:off x="937998" y="2222585"/>
            <a:ext cx="2854411" cy="731520"/>
          </a:xfrm>
          <a:prstGeom prst="rect">
            <a:avLst/>
          </a:prstGeom>
          <a:noFill/>
          <a:ln/>
        </p:spPr>
        <p:txBody>
          <a:bodyPr wrap="square" rtlCol="0" anchor="ctr"/>
          <a:lstStyle/>
          <a:p>
            <a:pPr marL="0" indent="0">
              <a:buNone/>
            </a:pPr>
            <a:r>
              <a:rPr lang="en-US" sz="1250" dirty="0">
                <a:latin typeface="Times New Roman" panose="02020603050405020304" pitchFamily="18" charset="0"/>
                <a:ea typeface="Calibri" pitchFamily="34" charset="-122"/>
                <a:cs typeface="Times New Roman" panose="02020603050405020304" pitchFamily="18" charset="0"/>
              </a:rPr>
              <a:t>of children in the analytic sample were anemic to some degree</a:t>
            </a:r>
            <a:endParaRPr lang="en-US" sz="1250" dirty="0">
              <a:latin typeface="Times New Roman" panose="02020603050405020304" pitchFamily="18" charset="0"/>
              <a:cs typeface="Times New Roman" panose="02020603050405020304" pitchFamily="18" charset="0"/>
            </a:endParaRPr>
          </a:p>
        </p:txBody>
      </p:sp>
      <p:sp>
        <p:nvSpPr>
          <p:cNvPr id="7" name="Shape 5"/>
          <p:cNvSpPr/>
          <p:nvPr/>
        </p:nvSpPr>
        <p:spPr>
          <a:xfrm>
            <a:off x="4504158" y="1308185"/>
            <a:ext cx="3200400" cy="1737360"/>
          </a:xfrm>
          <a:prstGeom prst="roundRect">
            <a:avLst>
              <a:gd name="adj" fmla="val 4211"/>
            </a:avLst>
          </a:prstGeom>
          <a:solidFill>
            <a:srgbClr val="F4F5F7"/>
          </a:solidFill>
          <a:ln w="12700">
            <a:solidFill>
              <a:srgbClr val="E5E7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txBox="1"/>
          <p:nvPr/>
        </p:nvSpPr>
        <p:spPr>
          <a:xfrm>
            <a:off x="4687038" y="1472777"/>
            <a:ext cx="2854411" cy="777240"/>
          </a:xfrm>
          <a:prstGeom prst="rect">
            <a:avLst/>
          </a:prstGeom>
          <a:noFill/>
          <a:ln/>
        </p:spPr>
        <p:txBody>
          <a:bodyPr wrap="square" rtlCol="0" anchor="ctr"/>
          <a:lstStyle/>
          <a:p>
            <a:pPr marL="0" indent="0" algn="l">
              <a:buNone/>
            </a:pPr>
            <a:r>
              <a:rPr lang="en-US" sz="3400" b="1" dirty="0">
                <a:solidFill>
                  <a:srgbClr val="1E2761"/>
                </a:solidFill>
                <a:latin typeface="Times New Roman" panose="02020603050405020304" pitchFamily="18" charset="0"/>
                <a:ea typeface="Cambria" pitchFamily="34" charset="-122"/>
                <a:cs typeface="Times New Roman" panose="02020603050405020304" pitchFamily="18" charset="0"/>
              </a:rPr>
              <a:t>10,182</a:t>
            </a:r>
            <a:endParaRPr lang="en-US" sz="3400" dirty="0">
              <a:latin typeface="Times New Roman" panose="02020603050405020304" pitchFamily="18" charset="0"/>
              <a:cs typeface="Times New Roman" panose="02020603050405020304" pitchFamily="18" charset="0"/>
            </a:endParaRPr>
          </a:p>
        </p:txBody>
      </p:sp>
      <p:sp>
        <p:nvSpPr>
          <p:cNvPr id="9" name="Text 7"/>
          <p:cNvSpPr txBox="1"/>
          <p:nvPr/>
        </p:nvSpPr>
        <p:spPr>
          <a:xfrm>
            <a:off x="4687038" y="2222585"/>
            <a:ext cx="2854411" cy="731520"/>
          </a:xfrm>
          <a:prstGeom prst="rect">
            <a:avLst/>
          </a:prstGeom>
          <a:noFill/>
          <a:ln/>
        </p:spPr>
        <p:txBody>
          <a:bodyPr wrap="square" rtlCol="0" anchor="ctr"/>
          <a:lstStyle/>
          <a:p>
            <a:pPr marL="0" indent="0">
              <a:buNone/>
            </a:pPr>
            <a:r>
              <a:rPr lang="en-US" sz="1250" dirty="0">
                <a:latin typeface="Times New Roman" panose="02020603050405020304" pitchFamily="18" charset="0"/>
                <a:ea typeface="Calibri" pitchFamily="34" charset="-122"/>
                <a:cs typeface="Times New Roman" panose="02020603050405020304" pitchFamily="18" charset="0"/>
              </a:rPr>
              <a:t>children with a valid hemoglobin-based anemia reading</a:t>
            </a:r>
            <a:endParaRPr lang="en-US" sz="1250" dirty="0">
              <a:latin typeface="Times New Roman" panose="02020603050405020304" pitchFamily="18" charset="0"/>
              <a:cs typeface="Times New Roman" panose="02020603050405020304" pitchFamily="18" charset="0"/>
            </a:endParaRPr>
          </a:p>
        </p:txBody>
      </p:sp>
      <p:sp>
        <p:nvSpPr>
          <p:cNvPr id="10" name="Shape 8"/>
          <p:cNvSpPr/>
          <p:nvPr/>
        </p:nvSpPr>
        <p:spPr>
          <a:xfrm>
            <a:off x="8253198" y="1308185"/>
            <a:ext cx="3200400" cy="1737360"/>
          </a:xfrm>
          <a:prstGeom prst="roundRect">
            <a:avLst>
              <a:gd name="adj" fmla="val 4211"/>
            </a:avLst>
          </a:prstGeom>
          <a:solidFill>
            <a:srgbClr val="F4F5F7"/>
          </a:solidFill>
          <a:ln w="12700">
            <a:solidFill>
              <a:srgbClr val="E5E7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txBox="1"/>
          <p:nvPr/>
        </p:nvSpPr>
        <p:spPr>
          <a:xfrm>
            <a:off x="8436078" y="1472777"/>
            <a:ext cx="2854411" cy="777240"/>
          </a:xfrm>
          <a:prstGeom prst="rect">
            <a:avLst/>
          </a:prstGeom>
          <a:noFill/>
          <a:ln/>
        </p:spPr>
        <p:txBody>
          <a:bodyPr wrap="square" rtlCol="0" anchor="ctr"/>
          <a:lstStyle/>
          <a:p>
            <a:pPr marL="0" indent="0" algn="l">
              <a:buNone/>
            </a:pPr>
            <a:r>
              <a:rPr lang="en-US" sz="3400" b="1" dirty="0">
                <a:solidFill>
                  <a:srgbClr val="1E2761"/>
                </a:solidFill>
                <a:latin typeface="Times New Roman" panose="02020603050405020304" pitchFamily="18" charset="0"/>
                <a:ea typeface="Cambria" pitchFamily="34" charset="-122"/>
                <a:cs typeface="Times New Roman" panose="02020603050405020304" pitchFamily="18" charset="0"/>
              </a:rPr>
              <a:t>36 + FCT</a:t>
            </a:r>
            <a:endParaRPr lang="en-US" sz="3400" dirty="0">
              <a:latin typeface="Times New Roman" panose="02020603050405020304" pitchFamily="18" charset="0"/>
              <a:cs typeface="Times New Roman" panose="02020603050405020304" pitchFamily="18" charset="0"/>
            </a:endParaRPr>
          </a:p>
        </p:txBody>
      </p:sp>
      <p:sp>
        <p:nvSpPr>
          <p:cNvPr id="12" name="Text 10"/>
          <p:cNvSpPr txBox="1"/>
          <p:nvPr/>
        </p:nvSpPr>
        <p:spPr>
          <a:xfrm>
            <a:off x="8436078" y="2222585"/>
            <a:ext cx="2854411" cy="731520"/>
          </a:xfrm>
          <a:prstGeom prst="rect">
            <a:avLst/>
          </a:prstGeom>
          <a:noFill/>
          <a:ln/>
        </p:spPr>
        <p:txBody>
          <a:bodyPr wrap="square" rtlCol="0" anchor="ctr"/>
          <a:lstStyle/>
          <a:p>
            <a:pPr marL="0" indent="0">
              <a:buNone/>
            </a:pPr>
            <a:r>
              <a:rPr lang="en-US" sz="1250" dirty="0">
                <a:latin typeface="Times New Roman" panose="02020603050405020304" pitchFamily="18" charset="0"/>
                <a:ea typeface="Calibri" pitchFamily="34" charset="-122"/>
                <a:cs typeface="Times New Roman" panose="02020603050405020304" pitchFamily="18" charset="0"/>
              </a:rPr>
              <a:t>states covered by this nationally representative survey</a:t>
            </a:r>
            <a:endParaRPr lang="en-US" sz="1250" dirty="0">
              <a:latin typeface="Times New Roman" panose="02020603050405020304" pitchFamily="18" charset="0"/>
              <a:cs typeface="Times New Roman" panose="02020603050405020304" pitchFamily="18" charset="0"/>
            </a:endParaRPr>
          </a:p>
        </p:txBody>
      </p:sp>
      <p:sp>
        <p:nvSpPr>
          <p:cNvPr id="13" name="Text 11"/>
          <p:cNvSpPr/>
          <p:nvPr/>
        </p:nvSpPr>
        <p:spPr>
          <a:xfrm>
            <a:off x="725616" y="3794760"/>
            <a:ext cx="10521504" cy="1920240"/>
          </a:xfrm>
          <a:prstGeom prst="rect">
            <a:avLst/>
          </a:prstGeom>
          <a:noFill/>
          <a:ln/>
        </p:spPr>
        <p:txBody>
          <a:bodyPr wrap="square" rtlCol="0" anchor="t"/>
          <a:lstStyle/>
          <a:p>
            <a:pPr marL="342900" indent="-342900">
              <a:spcAft>
                <a:spcPts val="1200"/>
              </a:spcAft>
              <a:buSzPct val="100000"/>
              <a:buChar char="●"/>
            </a:pPr>
            <a:r>
              <a:rPr lang="en-US" sz="1600" dirty="0">
                <a:latin typeface="Times New Roman" panose="02020603050405020304" pitchFamily="18" charset="0"/>
                <a:ea typeface="Calibri" pitchFamily="34" charset="-122"/>
                <a:cs typeface="Times New Roman" panose="02020603050405020304" pitchFamily="18" charset="0"/>
              </a:rPr>
              <a:t>Anemia in early childhood is linked to impaired cognitive development, weaker immunity, and higher mortality risk.</a:t>
            </a:r>
            <a:endParaRPr lang="en-US" sz="1600" dirty="0">
              <a:latin typeface="Times New Roman" panose="02020603050405020304" pitchFamily="18" charset="0"/>
              <a:cs typeface="Times New Roman" panose="02020603050405020304" pitchFamily="18" charset="0"/>
            </a:endParaRPr>
          </a:p>
          <a:p>
            <a:pPr marL="342900" indent="-342900">
              <a:spcAft>
                <a:spcPts val="1200"/>
              </a:spcAft>
              <a:buSzPct val="100000"/>
              <a:buChar char="●"/>
            </a:pPr>
            <a:r>
              <a:rPr lang="en-US" sz="1600" dirty="0">
                <a:latin typeface="Times New Roman" panose="02020603050405020304" pitchFamily="18" charset="0"/>
                <a:ea typeface="Calibri" pitchFamily="34" charset="-122"/>
                <a:cs typeface="Times New Roman" panose="02020603050405020304" pitchFamily="18" charset="0"/>
              </a:rPr>
              <a:t>Prevention programs (iron supplementation, bed nets, fortification) are costly to run everywhere at once.</a:t>
            </a:r>
            <a:endParaRPr lang="en-US" sz="1600" dirty="0">
              <a:latin typeface="Times New Roman" panose="02020603050405020304" pitchFamily="18" charset="0"/>
              <a:cs typeface="Times New Roman" panose="02020603050405020304" pitchFamily="18" charset="0"/>
            </a:endParaRPr>
          </a:p>
          <a:p>
            <a:pPr marL="342900" indent="-342900">
              <a:spcAft>
                <a:spcPts val="1200"/>
              </a:spcAft>
              <a:buSzPct val="100000"/>
              <a:buChar char="●"/>
            </a:pPr>
            <a:r>
              <a:rPr lang="en-US" sz="1600" dirty="0">
                <a:latin typeface="Times New Roman" panose="02020603050405020304" pitchFamily="18" charset="0"/>
                <a:ea typeface="Calibri" pitchFamily="34" charset="-122"/>
                <a:cs typeface="Times New Roman" panose="02020603050405020304" pitchFamily="18" charset="0"/>
              </a:rPr>
              <a:t>Knowing which households carry the highest risk tells health agencies where to act first.</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457200" y="6473952"/>
            <a:ext cx="7315200" cy="274320"/>
          </a:xfrm>
          <a:prstGeom prst="rect">
            <a:avLst/>
          </a:prstGeom>
          <a:noFill/>
          <a:ln/>
        </p:spPr>
        <p:txBody>
          <a:bodyPr wrap="square"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Children's Anemia in Nigeria (2018 NDHS)</a:t>
            </a:r>
            <a:endParaRPr lang="en-US" sz="900" dirty="0">
              <a:latin typeface="Times New Roman" panose="02020603050405020304" pitchFamily="18" charset="0"/>
              <a:cs typeface="Times New Roman" panose="02020603050405020304" pitchFamily="18" charset="0"/>
            </a:endParaRPr>
          </a:p>
        </p:txBody>
      </p:sp>
      <p:sp>
        <p:nvSpPr>
          <p:cNvPr id="15" name="Text 1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Times New Roman" panose="02020603050405020304" pitchFamily="18" charset="0"/>
                <a:ea typeface="Calibri" pitchFamily="34" charset="-122"/>
                <a:cs typeface="Times New Roman" panose="02020603050405020304" pitchFamily="18" charset="0"/>
              </a:rPr>
              <a:t>2</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
            <a:ext cx="11091672" cy="64008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Data &amp; Method</a:t>
            </a:r>
            <a:endParaRPr lang="en-US" sz="3000" dirty="0">
              <a:latin typeface="Times New Roman" panose="02020603050405020304" pitchFamily="18" charset="0"/>
              <a:cs typeface="Times New Roman" panose="02020603050405020304" pitchFamily="18" charset="0"/>
            </a:endParaRPr>
          </a:p>
        </p:txBody>
      </p:sp>
      <p:sp>
        <p:nvSpPr>
          <p:cNvPr id="4" name="Text 2"/>
          <p:cNvSpPr txBox="1"/>
          <p:nvPr/>
        </p:nvSpPr>
        <p:spPr>
          <a:xfrm>
            <a:off x="786083" y="715300"/>
            <a:ext cx="5398405" cy="320040"/>
          </a:xfrm>
          <a:prstGeom prst="rect">
            <a:avLst/>
          </a:prstGeom>
          <a:solidFill>
            <a:schemeClr val="accent3">
              <a:lumMod val="50000"/>
            </a:schemeClr>
          </a:solidFill>
          <a:ln/>
        </p:spPr>
        <p:txBody>
          <a:bodyPr wrap="square" rtlCol="0" anchor="ctr"/>
          <a:lstStyle/>
          <a:p>
            <a:pPr marL="0" indent="0">
              <a:buNone/>
            </a:pPr>
            <a:r>
              <a:rPr lang="en-US" sz="1600" b="1" kern="0" spc="150" dirty="0">
                <a:solidFill>
                  <a:schemeClr val="bg1"/>
                </a:solidFill>
                <a:latin typeface="Times New Roman" panose="02020603050405020304" pitchFamily="18" charset="0"/>
                <a:ea typeface="Calibri" pitchFamily="34" charset="-122"/>
                <a:cs typeface="Times New Roman" panose="02020603050405020304" pitchFamily="18" charset="0"/>
              </a:rPr>
              <a:t>THE DATA</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5" name="Text 3"/>
          <p:cNvSpPr/>
          <p:nvPr/>
        </p:nvSpPr>
        <p:spPr>
          <a:xfrm>
            <a:off x="786083" y="1081060"/>
            <a:ext cx="5398405" cy="2286000"/>
          </a:xfrm>
          <a:prstGeom prst="rect">
            <a:avLst/>
          </a:prstGeom>
          <a:noFill/>
          <a:ln w="28575">
            <a:solidFill>
              <a:schemeClr val="accent2">
                <a:lumMod val="60000"/>
                <a:lumOff val="40000"/>
              </a:schemeClr>
            </a:solidFill>
          </a:ln>
        </p:spPr>
        <p:txBody>
          <a:bodyPr wrap="square" rtlCol="0" anchor="t"/>
          <a:lstStyle/>
          <a:p>
            <a:pPr marL="342900" indent="-342900">
              <a:spcAft>
                <a:spcPts val="1000"/>
              </a:spcAft>
              <a:buSzPct val="100000"/>
              <a:buChar char="●"/>
            </a:pPr>
            <a:r>
              <a:rPr lang="en-US" sz="1600" dirty="0">
                <a:latin typeface="Times New Roman" panose="02020603050405020304" pitchFamily="18" charset="0"/>
                <a:ea typeface="Calibri" pitchFamily="34" charset="-122"/>
                <a:cs typeface="Times New Roman" panose="02020603050405020304" pitchFamily="18" charset="0"/>
              </a:rPr>
              <a:t>33,924 mother–child records; 10,182 with a valid child anemia reading (used for this analysis)</a:t>
            </a:r>
            <a:endParaRPr lang="en-US" sz="1600" dirty="0">
              <a:latin typeface="Times New Roman" panose="02020603050405020304" pitchFamily="18" charset="0"/>
              <a:cs typeface="Times New Roman" panose="02020603050405020304" pitchFamily="18" charset="0"/>
            </a:endParaRPr>
          </a:p>
          <a:p>
            <a:pPr marL="342900" indent="-342900">
              <a:spcAft>
                <a:spcPts val="1000"/>
              </a:spcAft>
              <a:buSzPct val="100000"/>
              <a:buChar char="●"/>
            </a:pPr>
            <a:r>
              <a:rPr lang="en-US" sz="1600" dirty="0">
                <a:latin typeface="Times New Roman" panose="02020603050405020304" pitchFamily="18" charset="0"/>
                <a:ea typeface="Calibri" pitchFamily="34" charset="-122"/>
                <a:cs typeface="Times New Roman" panose="02020603050405020304" pitchFamily="18" charset="0"/>
              </a:rPr>
              <a:t>Outcome: Anemia level (Not anemic / Mild / Moderate / Severe), from hemoglobin adjusted for altitude (child-specific field)</a:t>
            </a:r>
            <a:endParaRPr lang="en-US" sz="1600" dirty="0">
              <a:latin typeface="Times New Roman" panose="02020603050405020304" pitchFamily="18" charset="0"/>
              <a:cs typeface="Times New Roman" panose="02020603050405020304" pitchFamily="18" charset="0"/>
            </a:endParaRPr>
          </a:p>
          <a:p>
            <a:pPr marL="342900" indent="-342900">
              <a:spcAft>
                <a:spcPts val="1000"/>
              </a:spcAft>
              <a:buSzPct val="100000"/>
              <a:buChar char="●"/>
            </a:pPr>
            <a:r>
              <a:rPr lang="en-US" sz="1600" dirty="0">
                <a:latin typeface="Times New Roman" panose="02020603050405020304" pitchFamily="18" charset="0"/>
                <a:ea typeface="Calibri" pitchFamily="34" charset="-122"/>
                <a:cs typeface="Times New Roman" panose="02020603050405020304" pitchFamily="18" charset="0"/>
              </a:rPr>
              <a:t>Predictors: mother's education, household wealth quintile, urban/rural residence</a:t>
            </a:r>
            <a:endParaRPr lang="en-US" sz="1600" dirty="0">
              <a:latin typeface="Times New Roman" panose="02020603050405020304" pitchFamily="18" charset="0"/>
              <a:cs typeface="Times New Roman" panose="02020603050405020304" pitchFamily="18" charset="0"/>
            </a:endParaRPr>
          </a:p>
        </p:txBody>
      </p:sp>
      <p:sp>
        <p:nvSpPr>
          <p:cNvPr id="6" name="Text 4"/>
          <p:cNvSpPr txBox="1"/>
          <p:nvPr/>
        </p:nvSpPr>
        <p:spPr>
          <a:xfrm>
            <a:off x="771334" y="3690288"/>
            <a:ext cx="5398405" cy="320040"/>
          </a:xfrm>
          <a:prstGeom prst="rect">
            <a:avLst/>
          </a:prstGeom>
          <a:solidFill>
            <a:schemeClr val="accent3">
              <a:lumMod val="50000"/>
            </a:schemeClr>
          </a:solidFill>
          <a:ln/>
        </p:spPr>
        <p:txBody>
          <a:bodyPr wrap="square" rtlCol="0" anchor="ctr"/>
          <a:lstStyle/>
          <a:p>
            <a:pPr marL="0" indent="0">
              <a:buNone/>
            </a:pPr>
            <a:r>
              <a:rPr lang="en-US" sz="1600" b="1" kern="0" spc="150" dirty="0">
                <a:solidFill>
                  <a:schemeClr val="bg1"/>
                </a:solidFill>
                <a:latin typeface="Times New Roman" panose="02020603050405020304" pitchFamily="18" charset="0"/>
                <a:ea typeface="Calibri" pitchFamily="34" charset="-122"/>
                <a:cs typeface="Times New Roman" panose="02020603050405020304" pitchFamily="18" charset="0"/>
              </a:rPr>
              <a:t>DATA CLEANING</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Text 5"/>
          <p:cNvSpPr/>
          <p:nvPr/>
        </p:nvSpPr>
        <p:spPr>
          <a:xfrm>
            <a:off x="771334" y="4056048"/>
            <a:ext cx="5398405" cy="1965960"/>
          </a:xfrm>
          <a:prstGeom prst="rect">
            <a:avLst/>
          </a:prstGeom>
          <a:noFill/>
          <a:ln w="28575">
            <a:solidFill>
              <a:schemeClr val="accent2">
                <a:lumMod val="60000"/>
                <a:lumOff val="40000"/>
              </a:schemeClr>
            </a:solidFill>
          </a:ln>
        </p:spPr>
        <p:txBody>
          <a:bodyPr wrap="square" rtlCol="0" anchor="t"/>
          <a:lstStyle/>
          <a:p>
            <a:pPr marL="342900" indent="-342900">
              <a:spcAft>
                <a:spcPts val="1000"/>
              </a:spcAft>
              <a:buSzPct val="100000"/>
              <a:buChar char="●"/>
            </a:pP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Two anemia fields exist for mother vs. child, the smoking-adjusted field is the mother's (smoking adjustment doesn't apply to kids), I used the true child field despite it being less complete (10,182 vs 13,136)</a:t>
            </a:r>
            <a:endParaRPr lang="en-US" sz="1600" dirty="0">
              <a:latin typeface="Times New Roman" panose="02020603050405020304" pitchFamily="18" charset="0"/>
              <a:cs typeface="Times New Roman" panose="02020603050405020304" pitchFamily="18" charset="0"/>
            </a:endParaRPr>
          </a:p>
          <a:p>
            <a:pPr marL="342900" indent="-342900">
              <a:spcAft>
                <a:spcPts val="1000"/>
              </a:spcAft>
              <a:buSzPct val="100000"/>
              <a:buChar char="●"/>
            </a:pP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Kept duplicate rows and concentrated among untested children, not data errors.</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6368352" y="1084011"/>
            <a:ext cx="5029200" cy="4709160"/>
          </a:xfrm>
          <a:prstGeom prst="roundRect">
            <a:avLst>
              <a:gd name="adj" fmla="val 1553"/>
            </a:avLst>
          </a:prstGeom>
          <a:solidFill>
            <a:srgbClr val="16204A"/>
          </a:solidFill>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txBox="1"/>
          <p:nvPr/>
        </p:nvSpPr>
        <p:spPr>
          <a:xfrm>
            <a:off x="6688392" y="1312611"/>
            <a:ext cx="4709160" cy="288946"/>
          </a:xfrm>
          <a:prstGeom prst="rect">
            <a:avLst/>
          </a:prstGeom>
          <a:noFill/>
          <a:ln/>
        </p:spPr>
        <p:txBody>
          <a:bodyPr wrap="square" rtlCol="0" anchor="ctr"/>
          <a:lstStyle/>
          <a:p>
            <a:pPr marL="0" indent="0">
              <a:buNone/>
            </a:pPr>
            <a:r>
              <a:rPr lang="en-US" sz="1600" b="1" kern="0" spc="150" dirty="0">
                <a:solidFill>
                  <a:srgbClr val="2A9D8F"/>
                </a:solidFill>
                <a:latin typeface="Times New Roman" panose="02020603050405020304" pitchFamily="18" charset="0"/>
                <a:ea typeface="Calibri" pitchFamily="34" charset="-122"/>
                <a:cs typeface="Times New Roman" panose="02020603050405020304" pitchFamily="18" charset="0"/>
              </a:rPr>
              <a:t>METHOD</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6688392" y="1724091"/>
            <a:ext cx="4709160" cy="3467346"/>
          </a:xfrm>
          <a:prstGeom prst="rect">
            <a:avLst/>
          </a:prstGeom>
          <a:noFill/>
          <a:ln/>
        </p:spPr>
        <p:txBody>
          <a:bodyPr wrap="square" rtlCol="0" anchor="t"/>
          <a:lstStyle/>
          <a:p>
            <a:pPr marL="342900" indent="-342900">
              <a:spcAft>
                <a:spcPts val="16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Group comparisons of % anemic by education, wealth, and residence</a:t>
            </a:r>
            <a:endParaRPr lang="en-US" sz="1600" dirty="0">
              <a:latin typeface="Times New Roman" panose="02020603050405020304" pitchFamily="18" charset="0"/>
              <a:cs typeface="Times New Roman" panose="02020603050405020304" pitchFamily="18" charset="0"/>
            </a:endParaRPr>
          </a:p>
          <a:p>
            <a:pPr marL="342900" indent="-342900">
              <a:spcAft>
                <a:spcPts val="16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One supporting check: wealth × urban/rural stratification</a:t>
            </a:r>
            <a:endParaRPr lang="en-US" sz="1600" dirty="0">
              <a:latin typeface="Times New Roman" panose="02020603050405020304" pitchFamily="18" charset="0"/>
              <a:cs typeface="Times New Roman" panose="02020603050405020304" pitchFamily="18" charset="0"/>
            </a:endParaRPr>
          </a:p>
          <a:p>
            <a:pPr marL="342900" indent="-342900">
              <a:spcAft>
                <a:spcPts val="16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Gaps are large and consistent across every group compared, not a one-off difference between two categories.</a:t>
            </a:r>
            <a:endParaRPr lang="en-US" sz="1600" dirty="0">
              <a:latin typeface="Times New Roman" panose="02020603050405020304" pitchFamily="18" charset="0"/>
              <a:cs typeface="Times New Roman" panose="02020603050405020304" pitchFamily="18" charset="0"/>
            </a:endParaRPr>
          </a:p>
          <a:p>
            <a:pPr marL="342900" indent="-342900">
              <a:spcAft>
                <a:spcPts val="16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Association language only: cross-sectional data cannot establish causation.</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Times New Roman" panose="02020603050405020304" pitchFamily="18" charset="0"/>
                <a:ea typeface="Calibri" pitchFamily="34" charset="-122"/>
                <a:cs typeface="Times New Roman" panose="02020603050405020304" pitchFamily="18" charset="0"/>
              </a:rPr>
              <a:t>3</a:t>
            </a:r>
            <a:endParaRPr lang="en-US" sz="900" dirty="0">
              <a:latin typeface="Times New Roman" panose="02020603050405020304" pitchFamily="18" charset="0"/>
              <a:cs typeface="Times New Roman" panose="02020603050405020304" pitchFamily="18" charset="0"/>
            </a:endParaRPr>
          </a:p>
        </p:txBody>
      </p:sp>
      <p:sp>
        <p:nvSpPr>
          <p:cNvPr id="13" name="Text 12">
            <a:extLst>
              <a:ext uri="{FF2B5EF4-FFF2-40B4-BE49-F238E27FC236}">
                <a16:creationId xmlns:a16="http://schemas.microsoft.com/office/drawing/2014/main" id="{9CFF3B3E-38AF-FD57-723D-2A92B3DFBA04}"/>
              </a:ext>
            </a:extLst>
          </p:cNvPr>
          <p:cNvSpPr/>
          <p:nvPr/>
        </p:nvSpPr>
        <p:spPr>
          <a:xfrm>
            <a:off x="457200" y="6473952"/>
            <a:ext cx="7315200" cy="274320"/>
          </a:xfrm>
          <a:prstGeom prst="rect">
            <a:avLst/>
          </a:prstGeom>
          <a:noFill/>
          <a:ln/>
        </p:spPr>
        <p:txBody>
          <a:bodyPr wrap="square"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Children's Anemia in Nigeria (2018 NDHS)</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3716"/>
            <a:ext cx="11091672" cy="64008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Nearly 7 in 10 Children Were Anemic</a:t>
            </a:r>
            <a:endParaRPr lang="en-US" sz="3000" dirty="0">
              <a:latin typeface="Times New Roman" panose="02020603050405020304" pitchFamily="18" charset="0"/>
              <a:cs typeface="Times New Roman" panose="02020603050405020304" pitchFamily="18" charset="0"/>
            </a:endParaRPr>
          </a:p>
        </p:txBody>
      </p:sp>
      <p:sp>
        <p:nvSpPr>
          <p:cNvPr id="3" name="Text 1"/>
          <p:cNvSpPr txBox="1"/>
          <p:nvPr/>
        </p:nvSpPr>
        <p:spPr>
          <a:xfrm>
            <a:off x="763968" y="655860"/>
            <a:ext cx="10652760" cy="484632"/>
          </a:xfrm>
          <a:prstGeom prst="rect">
            <a:avLst/>
          </a:prstGeom>
          <a:noFill/>
          <a:ln/>
        </p:spPr>
        <p:txBody>
          <a:bodyPr wrap="square" rtlCol="0" anchor="ctr"/>
          <a:lstStyle/>
          <a:p>
            <a:pPr marL="0" indent="0">
              <a:buNone/>
            </a:pPr>
            <a:r>
              <a:rPr lang="en-US" sz="1600" i="1" dirty="0">
                <a:solidFill>
                  <a:srgbClr val="2A9D8F"/>
                </a:solidFill>
                <a:latin typeface="Times New Roman" panose="02020603050405020304" pitchFamily="18" charset="0"/>
                <a:ea typeface="Calibri" pitchFamily="34" charset="-122"/>
                <a:cs typeface="Times New Roman" panose="02020603050405020304" pitchFamily="18" charset="0"/>
              </a:rPr>
              <a:t>Overall anemia burden among children with a valid reading (n = 10,182)</a:t>
            </a:r>
            <a:endParaRPr lang="en-US" sz="1600" dirty="0">
              <a:latin typeface="Times New Roman" panose="02020603050405020304" pitchFamily="18" charset="0"/>
              <a:cs typeface="Times New Roman" panose="02020603050405020304" pitchFamily="18" charset="0"/>
            </a:endParaRPr>
          </a:p>
        </p:txBody>
      </p:sp>
      <p:sp>
        <p:nvSpPr>
          <p:cNvPr id="5" name="Shape 2"/>
          <p:cNvSpPr/>
          <p:nvPr/>
        </p:nvSpPr>
        <p:spPr>
          <a:xfrm>
            <a:off x="8246679" y="1110996"/>
            <a:ext cx="3111058" cy="1965960"/>
          </a:xfrm>
          <a:prstGeom prst="roundRect">
            <a:avLst>
              <a:gd name="adj" fmla="val 3721"/>
            </a:avLst>
          </a:prstGeom>
          <a:solidFill>
            <a:schemeClr val="accent2">
              <a:lumMod val="20000"/>
              <a:lumOff val="80000"/>
            </a:schemeClr>
          </a:solidFill>
          <a:ln/>
        </p:spPr>
        <p:txBody>
          <a:bodyPr/>
          <a:lstStyle/>
          <a:p>
            <a:endParaRPr>
              <a:latin typeface="Times New Roman" panose="02020603050405020304" pitchFamily="18" charset="0"/>
              <a:cs typeface="Times New Roman" panose="02020603050405020304" pitchFamily="18" charset="0"/>
            </a:endParaRPr>
          </a:p>
        </p:txBody>
      </p:sp>
      <p:sp>
        <p:nvSpPr>
          <p:cNvPr id="6" name="Text 3"/>
          <p:cNvSpPr txBox="1"/>
          <p:nvPr/>
        </p:nvSpPr>
        <p:spPr>
          <a:xfrm>
            <a:off x="8416020" y="1248156"/>
            <a:ext cx="2856702" cy="822960"/>
          </a:xfrm>
          <a:prstGeom prst="rect">
            <a:avLst/>
          </a:prstGeom>
          <a:noFill/>
          <a:ln/>
        </p:spPr>
        <p:txBody>
          <a:bodyPr wrap="square" rtlCol="0" anchor="ctr"/>
          <a:lstStyle/>
          <a:p>
            <a:pPr marL="0" indent="0" algn="ctr">
              <a:buNone/>
            </a:pPr>
            <a:r>
              <a:rPr lang="en-US" sz="3800" b="1" dirty="0">
                <a:solidFill>
                  <a:srgbClr val="E76F51"/>
                </a:solidFill>
                <a:latin typeface="Times New Roman" panose="02020603050405020304" pitchFamily="18" charset="0"/>
                <a:ea typeface="Cambria" pitchFamily="34" charset="-122"/>
                <a:cs typeface="Times New Roman" panose="02020603050405020304" pitchFamily="18" charset="0"/>
              </a:rPr>
              <a:t>68.8%</a:t>
            </a:r>
            <a:endParaRPr lang="en-US" sz="3800" dirty="0">
              <a:latin typeface="Times New Roman" panose="02020603050405020304" pitchFamily="18" charset="0"/>
              <a:cs typeface="Times New Roman" panose="02020603050405020304" pitchFamily="18" charset="0"/>
            </a:endParaRPr>
          </a:p>
        </p:txBody>
      </p:sp>
      <p:sp>
        <p:nvSpPr>
          <p:cNvPr id="7" name="Text 4"/>
          <p:cNvSpPr txBox="1"/>
          <p:nvPr/>
        </p:nvSpPr>
        <p:spPr>
          <a:xfrm>
            <a:off x="8250840" y="2069640"/>
            <a:ext cx="3106896" cy="91440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of children were anemic in some degree (mild, moderate, or severe)</a:t>
            </a:r>
            <a:endParaRPr lang="en-US" sz="1600" dirty="0">
              <a:latin typeface="Times New Roman" panose="02020603050405020304" pitchFamily="18" charset="0"/>
              <a:cs typeface="Times New Roman" panose="02020603050405020304" pitchFamily="18" charset="0"/>
            </a:endParaRPr>
          </a:p>
        </p:txBody>
      </p:sp>
      <p:sp>
        <p:nvSpPr>
          <p:cNvPr id="8" name="Text 5"/>
          <p:cNvSpPr/>
          <p:nvPr/>
        </p:nvSpPr>
        <p:spPr>
          <a:xfrm>
            <a:off x="8315115" y="3972180"/>
            <a:ext cx="3057369" cy="1715237"/>
          </a:xfrm>
          <a:prstGeom prst="rect">
            <a:avLst/>
          </a:prstGeom>
          <a:solidFill>
            <a:schemeClr val="accent2">
              <a:lumMod val="60000"/>
              <a:lumOff val="40000"/>
            </a:schemeClr>
          </a:solidFill>
          <a:ln/>
        </p:spPr>
        <p:txBody>
          <a:bodyPr wrap="square" rtlCol="0" anchor="t"/>
          <a:lstStyle/>
          <a:p>
            <a:pPr marL="342900" indent="-342900">
              <a:spcAft>
                <a:spcPts val="800"/>
              </a:spcAft>
              <a:buSzPct val="100000"/>
              <a:buChar char="●"/>
            </a:pPr>
            <a:r>
              <a:rPr lang="en-US" dirty="0">
                <a:latin typeface="Times New Roman" panose="02020603050405020304" pitchFamily="18" charset="0"/>
                <a:ea typeface="Calibri" pitchFamily="34" charset="-122"/>
                <a:cs typeface="Times New Roman" panose="02020603050405020304" pitchFamily="18" charset="0"/>
              </a:rPr>
              <a:t>31.2% not anemic</a:t>
            </a:r>
            <a:endParaRPr lang="en-US"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dirty="0">
                <a:latin typeface="Times New Roman" panose="02020603050405020304" pitchFamily="18" charset="0"/>
                <a:ea typeface="Calibri" pitchFamily="34" charset="-122"/>
                <a:cs typeface="Times New Roman" panose="02020603050405020304" pitchFamily="18" charset="0"/>
              </a:rPr>
              <a:t>27.0% mildly anemic</a:t>
            </a:r>
            <a:endParaRPr lang="en-US"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dirty="0">
                <a:latin typeface="Times New Roman" panose="02020603050405020304" pitchFamily="18" charset="0"/>
                <a:ea typeface="Calibri" pitchFamily="34" charset="-122"/>
                <a:cs typeface="Times New Roman" panose="02020603050405020304" pitchFamily="18" charset="0"/>
              </a:rPr>
              <a:t>38.6% moderately anemic</a:t>
            </a:r>
            <a:endParaRPr lang="en-US"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dirty="0">
                <a:latin typeface="Times New Roman" panose="02020603050405020304" pitchFamily="18" charset="0"/>
                <a:ea typeface="Calibri" pitchFamily="34" charset="-122"/>
                <a:cs typeface="Times New Roman" panose="02020603050405020304" pitchFamily="18" charset="0"/>
              </a:rPr>
              <a:t>3.2% severely anemic</a:t>
            </a:r>
            <a:endParaRPr lang="en-US" dirty="0">
              <a:latin typeface="Times New Roman" panose="02020603050405020304" pitchFamily="18" charset="0"/>
              <a:cs typeface="Times New Roman" panose="02020603050405020304" pitchFamily="18" charset="0"/>
            </a:endParaRPr>
          </a:p>
        </p:txBody>
      </p:sp>
      <p:sp>
        <p:nvSpPr>
          <p:cNvPr id="10" name="Text 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Times New Roman" panose="02020603050405020304" pitchFamily="18" charset="0"/>
                <a:ea typeface="Calibri" pitchFamily="34" charset="-122"/>
                <a:cs typeface="Times New Roman" panose="02020603050405020304" pitchFamily="18" charset="0"/>
              </a:rPr>
              <a:t>4</a:t>
            </a:r>
            <a:endParaRPr lang="en-US" sz="900" dirty="0">
              <a:latin typeface="Times New Roman" panose="02020603050405020304" pitchFamily="18" charset="0"/>
              <a:cs typeface="Times New Roman" panose="02020603050405020304" pitchFamily="18" charset="0"/>
            </a:endParaRPr>
          </a:p>
        </p:txBody>
      </p:sp>
      <p:sp>
        <p:nvSpPr>
          <p:cNvPr id="11" name="Text 12">
            <a:extLst>
              <a:ext uri="{FF2B5EF4-FFF2-40B4-BE49-F238E27FC236}">
                <a16:creationId xmlns:a16="http://schemas.microsoft.com/office/drawing/2014/main" id="{D7B11DFA-A8DC-62A0-6DCE-AEF9D4FA1113}"/>
              </a:ext>
            </a:extLst>
          </p:cNvPr>
          <p:cNvSpPr/>
          <p:nvPr/>
        </p:nvSpPr>
        <p:spPr>
          <a:xfrm>
            <a:off x="457200" y="6473952"/>
            <a:ext cx="7315200" cy="274320"/>
          </a:xfrm>
          <a:prstGeom prst="rect">
            <a:avLst/>
          </a:prstGeom>
          <a:noFill/>
          <a:ln/>
        </p:spPr>
        <p:txBody>
          <a:bodyPr wrap="square"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Children's Anemia in Nigeria (2018 NDHS)</a:t>
            </a:r>
            <a:endParaRPr lang="en-US" sz="900" dirty="0">
              <a:latin typeface="Times New Roman" panose="02020603050405020304" pitchFamily="18" charset="0"/>
              <a:cs typeface="Times New Roman" panose="02020603050405020304" pitchFamily="18" charset="0"/>
            </a:endParaRPr>
          </a:p>
        </p:txBody>
      </p:sp>
      <p:graphicFrame>
        <p:nvGraphicFramePr>
          <p:cNvPr id="9" name="Chart 8">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2460153212"/>
              </p:ext>
            </p:extLst>
          </p:nvPr>
        </p:nvGraphicFramePr>
        <p:xfrm>
          <a:off x="1048968" y="1264158"/>
          <a:ext cx="6400800" cy="4572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21208" y="0"/>
            <a:ext cx="11091672" cy="64008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Anemia Tracks Household Disadvantage</a:t>
            </a:r>
            <a:endParaRPr lang="en-US" sz="3000" dirty="0">
              <a:latin typeface="Times New Roman" panose="02020603050405020304" pitchFamily="18" charset="0"/>
              <a:cs typeface="Times New Roman" panose="02020603050405020304" pitchFamily="18" charset="0"/>
            </a:endParaRPr>
          </a:p>
        </p:txBody>
      </p:sp>
      <p:sp>
        <p:nvSpPr>
          <p:cNvPr id="3" name="Text 1"/>
          <p:cNvSpPr txBox="1"/>
          <p:nvPr/>
        </p:nvSpPr>
        <p:spPr>
          <a:xfrm>
            <a:off x="682095" y="716280"/>
            <a:ext cx="10831216" cy="365760"/>
          </a:xfrm>
          <a:prstGeom prst="rect">
            <a:avLst/>
          </a:prstGeom>
          <a:noFill/>
          <a:ln/>
        </p:spPr>
        <p:txBody>
          <a:bodyPr wrap="square" rtlCol="0" anchor="ctr"/>
          <a:lstStyle/>
          <a:p>
            <a:pPr marL="0" indent="0">
              <a:buNone/>
            </a:pPr>
            <a:r>
              <a:rPr lang="en-US" sz="1600" i="1" dirty="0">
                <a:solidFill>
                  <a:srgbClr val="2A9D8F"/>
                </a:solidFill>
                <a:latin typeface="Times New Roman" panose="02020603050405020304" pitchFamily="18" charset="0"/>
                <a:ea typeface="Calibri" pitchFamily="34" charset="-122"/>
                <a:cs typeface="Times New Roman" panose="02020603050405020304" pitchFamily="18" charset="0"/>
              </a:rPr>
              <a:t>Prevalence falls steadily as mother's education and household wealth rise</a:t>
            </a:r>
            <a:endParaRPr lang="en-US" sz="1600" dirty="0">
              <a:latin typeface="Times New Roman" panose="02020603050405020304" pitchFamily="18" charset="0"/>
              <a:cs typeface="Times New Roman" panose="02020603050405020304" pitchFamily="18" charset="0"/>
            </a:endParaRPr>
          </a:p>
        </p:txBody>
      </p:sp>
      <p:pic>
        <p:nvPicPr>
          <p:cNvPr id="4" name="Image 0" descr="chart2_education.png"/>
          <p:cNvPicPr>
            <a:picLocks noChangeAspect="1"/>
          </p:cNvPicPr>
          <p:nvPr/>
        </p:nvPicPr>
        <p:blipFill>
          <a:blip r:embed="rId3"/>
          <a:stretch>
            <a:fillRect/>
          </a:stretch>
        </p:blipFill>
        <p:spPr>
          <a:xfrm>
            <a:off x="811160" y="1418796"/>
            <a:ext cx="5253375" cy="3788568"/>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 name="Image 1" descr="chart3_wealth.png"/>
          <p:cNvPicPr>
            <a:picLocks noChangeAspect="1"/>
          </p:cNvPicPr>
          <p:nvPr/>
        </p:nvPicPr>
        <p:blipFill>
          <a:blip r:embed="rId4"/>
          <a:stretch>
            <a:fillRect/>
          </a:stretch>
        </p:blipFill>
        <p:spPr>
          <a:xfrm>
            <a:off x="6294612" y="1418796"/>
            <a:ext cx="5100976" cy="3788568"/>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6" name="Text 2"/>
          <p:cNvSpPr/>
          <p:nvPr/>
        </p:nvSpPr>
        <p:spPr>
          <a:xfrm>
            <a:off x="693175" y="5515896"/>
            <a:ext cx="10831216" cy="709396"/>
          </a:xfrm>
          <a:prstGeom prst="rect">
            <a:avLst/>
          </a:prstGeom>
          <a:solidFill>
            <a:schemeClr val="accent2">
              <a:lumMod val="20000"/>
              <a:lumOff val="80000"/>
            </a:schemeClr>
          </a:solidFill>
          <a:ln/>
        </p:spPr>
        <p:txBody>
          <a:bodyPr wrap="square" rtlCol="0" anchor="t"/>
          <a:lstStyle/>
          <a:p>
            <a:pPr marL="342900" indent="-342900">
              <a:spcAft>
                <a:spcPts val="600"/>
              </a:spcAft>
              <a:buSzPct val="100000"/>
              <a:buChar char="●"/>
            </a:pPr>
            <a:r>
              <a:rPr lang="en-US" dirty="0">
                <a:latin typeface="Times New Roman" panose="02020603050405020304" pitchFamily="18" charset="0"/>
                <a:ea typeface="Calibri" pitchFamily="34" charset="-122"/>
                <a:cs typeface="Times New Roman" panose="02020603050405020304" pitchFamily="18" charset="0"/>
              </a:rPr>
              <a:t>Education: 75.8% (no education) → 49.0% (higher education) a 26.8-point gap</a:t>
            </a:r>
            <a:endParaRPr lang="en-US"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dirty="0">
                <a:latin typeface="Times New Roman" panose="02020603050405020304" pitchFamily="18" charset="0"/>
                <a:ea typeface="Calibri" pitchFamily="34" charset="-122"/>
                <a:cs typeface="Times New Roman" panose="02020603050405020304" pitchFamily="18" charset="0"/>
              </a:rPr>
              <a:t>Wealth: 79.5% (poorest) → 53.5% (richest) about 26-point gap, falling steadily across all 5 quintiles</a:t>
            </a:r>
            <a:endParaRPr lang="en-US" dirty="0">
              <a:latin typeface="Times New Roman" panose="02020603050405020304" pitchFamily="18" charset="0"/>
              <a:cs typeface="Times New Roman" panose="02020603050405020304" pitchFamily="18" charset="0"/>
            </a:endParaRPr>
          </a:p>
        </p:txBody>
      </p:sp>
      <p:sp>
        <p:nvSpPr>
          <p:cNvPr id="8" name="Text 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Times New Roman" panose="02020603050405020304" pitchFamily="18" charset="0"/>
                <a:ea typeface="Calibri" pitchFamily="34" charset="-122"/>
                <a:cs typeface="Times New Roman" panose="02020603050405020304" pitchFamily="18" charset="0"/>
              </a:rPr>
              <a:t>5</a:t>
            </a:r>
            <a:endParaRPr lang="en-US" sz="900" dirty="0">
              <a:latin typeface="Times New Roman" panose="02020603050405020304" pitchFamily="18" charset="0"/>
              <a:cs typeface="Times New Roman" panose="02020603050405020304" pitchFamily="18" charset="0"/>
            </a:endParaRPr>
          </a:p>
        </p:txBody>
      </p:sp>
      <p:sp>
        <p:nvSpPr>
          <p:cNvPr id="9" name="Text 12">
            <a:extLst>
              <a:ext uri="{FF2B5EF4-FFF2-40B4-BE49-F238E27FC236}">
                <a16:creationId xmlns:a16="http://schemas.microsoft.com/office/drawing/2014/main" id="{0AC2602C-B435-713C-75A9-2280A9EEE0FD}"/>
              </a:ext>
            </a:extLst>
          </p:cNvPr>
          <p:cNvSpPr/>
          <p:nvPr/>
        </p:nvSpPr>
        <p:spPr>
          <a:xfrm>
            <a:off x="486696" y="6473952"/>
            <a:ext cx="7315200" cy="274320"/>
          </a:xfrm>
          <a:prstGeom prst="rect">
            <a:avLst/>
          </a:prstGeom>
          <a:noFill/>
          <a:ln/>
        </p:spPr>
        <p:txBody>
          <a:bodyPr wrap="square"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Children's Anemia in Nigeria (2018 NDHS)</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7432"/>
            <a:ext cx="11091672" cy="64008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The Wealth Gap Holds in Both Urban and Rural Areas</a:t>
            </a:r>
            <a:endParaRPr lang="en-US" sz="3000" dirty="0">
              <a:latin typeface="Times New Roman" panose="02020603050405020304" pitchFamily="18" charset="0"/>
              <a:cs typeface="Times New Roman" panose="02020603050405020304" pitchFamily="18" charset="0"/>
            </a:endParaRPr>
          </a:p>
        </p:txBody>
      </p:sp>
      <p:sp>
        <p:nvSpPr>
          <p:cNvPr id="3" name="Text 1"/>
          <p:cNvSpPr txBox="1"/>
          <p:nvPr/>
        </p:nvSpPr>
        <p:spPr>
          <a:xfrm>
            <a:off x="659253" y="658368"/>
            <a:ext cx="10843899" cy="640080"/>
          </a:xfrm>
          <a:prstGeom prst="rect">
            <a:avLst/>
          </a:prstGeom>
          <a:noFill/>
          <a:ln/>
        </p:spPr>
        <p:txBody>
          <a:bodyPr wrap="square" rtlCol="0" anchor="ctr"/>
          <a:lstStyle/>
          <a:p>
            <a:pPr marL="0" indent="0">
              <a:buNone/>
            </a:pPr>
            <a:r>
              <a:rPr lang="en-US" sz="1500" i="1" dirty="0">
                <a:solidFill>
                  <a:srgbClr val="2A9D8F"/>
                </a:solidFill>
                <a:latin typeface="Times New Roman" panose="02020603050405020304" pitchFamily="18" charset="0"/>
                <a:ea typeface="Calibri" pitchFamily="34" charset="-122"/>
                <a:cs typeface="Times New Roman" panose="02020603050405020304" pitchFamily="18" charset="0"/>
              </a:rPr>
              <a:t>Wealth × Residence: This analysis examines how household wealth and residence type interact to influence childhood anemia in Nigeria. The key finding is that both factors independently increase anemia risk, and their effects are consistent across different contexts. Although Child anemia is generally more prevalent in rural areas, with prevalence varying across wealth groups.</a:t>
            </a:r>
            <a:endParaRPr lang="en-US" sz="1500" dirty="0">
              <a:latin typeface="Times New Roman" panose="02020603050405020304" pitchFamily="18" charset="0"/>
              <a:cs typeface="Times New Roman" panose="02020603050405020304" pitchFamily="18" charset="0"/>
            </a:endParaRPr>
          </a:p>
        </p:txBody>
      </p:sp>
      <p:sp>
        <p:nvSpPr>
          <p:cNvPr id="5" name="Text 2"/>
          <p:cNvSpPr/>
          <p:nvPr/>
        </p:nvSpPr>
        <p:spPr>
          <a:xfrm>
            <a:off x="8564858" y="2177187"/>
            <a:ext cx="2633082" cy="3148784"/>
          </a:xfrm>
          <a:prstGeom prst="rect">
            <a:avLst/>
          </a:prstGeom>
          <a:solidFill>
            <a:schemeClr val="accent2">
              <a:lumMod val="20000"/>
              <a:lumOff val="80000"/>
            </a:schemeClr>
          </a:solidFill>
          <a:ln/>
        </p:spPr>
        <p:txBody>
          <a:bodyPr wrap="square" rtlCol="0" anchor="t"/>
          <a:lstStyle/>
          <a:p>
            <a:pPr marL="342900" indent="-342900">
              <a:spcAft>
                <a:spcPts val="1000"/>
              </a:spcAft>
              <a:buSzPct val="100000"/>
              <a:buChar char="●"/>
            </a:pPr>
            <a:r>
              <a:rPr lang="en-US" dirty="0">
                <a:latin typeface="Times New Roman" panose="02020603050405020304" pitchFamily="18" charset="0"/>
                <a:ea typeface="Calibri" pitchFamily="34" charset="-122"/>
                <a:cs typeface="Times New Roman" panose="02020603050405020304" pitchFamily="18" charset="0"/>
              </a:rPr>
              <a:t>Rural: 72.9% anemic overall</a:t>
            </a:r>
            <a:endParaRPr lang="en-US" dirty="0">
              <a:latin typeface="Times New Roman" panose="02020603050405020304" pitchFamily="18" charset="0"/>
              <a:cs typeface="Times New Roman" panose="02020603050405020304" pitchFamily="18" charset="0"/>
            </a:endParaRPr>
          </a:p>
          <a:p>
            <a:pPr marL="342900" indent="-342900">
              <a:spcAft>
                <a:spcPts val="1000"/>
              </a:spcAft>
              <a:buSzPct val="100000"/>
              <a:buChar char="●"/>
            </a:pPr>
            <a:r>
              <a:rPr lang="en-US" dirty="0">
                <a:latin typeface="Times New Roman" panose="02020603050405020304" pitchFamily="18" charset="0"/>
                <a:ea typeface="Calibri" pitchFamily="34" charset="-122"/>
                <a:cs typeface="Times New Roman" panose="02020603050405020304" pitchFamily="18" charset="0"/>
              </a:rPr>
              <a:t>Urban: 62.3% anemic overall</a:t>
            </a:r>
            <a:endParaRPr lang="en-US" dirty="0">
              <a:latin typeface="Times New Roman" panose="02020603050405020304" pitchFamily="18" charset="0"/>
              <a:cs typeface="Times New Roman" panose="02020603050405020304" pitchFamily="18" charset="0"/>
            </a:endParaRPr>
          </a:p>
          <a:p>
            <a:pPr marL="342900" indent="-342900">
              <a:spcAft>
                <a:spcPts val="1000"/>
              </a:spcAft>
              <a:buSzPct val="100000"/>
              <a:buChar char="●"/>
            </a:pPr>
            <a:r>
              <a:rPr lang="en-US" dirty="0">
                <a:latin typeface="Times New Roman" panose="02020603050405020304" pitchFamily="18" charset="0"/>
                <a:ea typeface="Calibri" pitchFamily="34" charset="-122"/>
                <a:cs typeface="Times New Roman" panose="02020603050405020304" pitchFamily="18" charset="0"/>
              </a:rPr>
              <a:t>Richest rural children (58.6%) still exceed richest urban children (51.9%)</a:t>
            </a:r>
          </a:p>
        </p:txBody>
      </p:sp>
      <p:sp>
        <p:nvSpPr>
          <p:cNvPr id="7" name="Text 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10" name="Text 12">
            <a:extLst>
              <a:ext uri="{FF2B5EF4-FFF2-40B4-BE49-F238E27FC236}">
                <a16:creationId xmlns:a16="http://schemas.microsoft.com/office/drawing/2014/main" id="{FF2788D5-A680-EA96-F77B-E4AA68F3FAAD}"/>
              </a:ext>
            </a:extLst>
          </p:cNvPr>
          <p:cNvSpPr/>
          <p:nvPr/>
        </p:nvSpPr>
        <p:spPr>
          <a:xfrm>
            <a:off x="486696" y="6473952"/>
            <a:ext cx="7315200" cy="274320"/>
          </a:xfrm>
          <a:prstGeom prst="rect">
            <a:avLst/>
          </a:prstGeom>
          <a:noFill/>
          <a:ln/>
        </p:spPr>
        <p:txBody>
          <a:bodyPr wrap="square" rtlCol="0" anchor="ctr"/>
          <a:lstStyle/>
          <a:p>
            <a:pPr marL="0" indent="0">
              <a:buNone/>
            </a:pPr>
            <a:r>
              <a:rPr lang="en-US" sz="900" dirty="0">
                <a:latin typeface="Calibri" pitchFamily="34" charset="0"/>
                <a:ea typeface="Calibri" pitchFamily="34" charset="-122"/>
                <a:cs typeface="Calibri" pitchFamily="34" charset="-120"/>
              </a:rPr>
              <a:t>Children's Anemia in Nigeria (2018 NDHS)</a:t>
            </a:r>
            <a:endParaRPr lang="en-US" sz="900" dirty="0"/>
          </a:p>
        </p:txBody>
      </p:sp>
      <p:graphicFrame>
        <p:nvGraphicFramePr>
          <p:cNvPr id="8" name="Chart 7">
            <a:extLst>
              <a:ext uri="{FF2B5EF4-FFF2-40B4-BE49-F238E27FC236}">
                <a16:creationId xmlns:a16="http://schemas.microsoft.com/office/drawing/2014/main" id="{1845B951-0C53-0142-CDC1-D69A261DED0C}"/>
              </a:ext>
            </a:extLst>
          </p:cNvPr>
          <p:cNvGraphicFramePr>
            <a:graphicFrameLocks/>
          </p:cNvGraphicFramePr>
          <p:nvPr>
            <p:extLst>
              <p:ext uri="{D42A27DB-BD31-4B8C-83A1-F6EECF244321}">
                <p14:modId xmlns:p14="http://schemas.microsoft.com/office/powerpoint/2010/main" val="3303415977"/>
              </p:ext>
            </p:extLst>
          </p:nvPr>
        </p:nvGraphicFramePr>
        <p:xfrm>
          <a:off x="1231901" y="1600200"/>
          <a:ext cx="5778500" cy="4064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0"/>
            <a:ext cx="11091672" cy="64008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Discussion &amp; Limitations of Findings</a:t>
            </a:r>
            <a:endParaRPr lang="en-US" sz="3000" dirty="0">
              <a:latin typeface="Times New Roman" panose="02020603050405020304" pitchFamily="18" charset="0"/>
              <a:cs typeface="Times New Roman" panose="02020603050405020304" pitchFamily="18" charset="0"/>
            </a:endParaRPr>
          </a:p>
        </p:txBody>
      </p:sp>
      <p:sp>
        <p:nvSpPr>
          <p:cNvPr id="3" name="Text 1"/>
          <p:cNvSpPr txBox="1"/>
          <p:nvPr/>
        </p:nvSpPr>
        <p:spPr>
          <a:xfrm>
            <a:off x="769280" y="653728"/>
            <a:ext cx="5394960" cy="320040"/>
          </a:xfrm>
          <a:prstGeom prst="rect">
            <a:avLst/>
          </a:prstGeom>
          <a:solidFill>
            <a:schemeClr val="accent3">
              <a:lumMod val="50000"/>
            </a:schemeClr>
          </a:solidFill>
          <a:ln w="19050">
            <a:solidFill>
              <a:schemeClr val="accent2">
                <a:lumMod val="40000"/>
                <a:lumOff val="60000"/>
              </a:schemeClr>
            </a:solidFill>
          </a:ln>
        </p:spPr>
        <p:txBody>
          <a:bodyPr wrap="square" rtlCol="0" anchor="ctr"/>
          <a:lstStyle/>
          <a:p>
            <a:pPr marL="0" indent="0">
              <a:buNone/>
            </a:pPr>
            <a:r>
              <a:rPr lang="en-US" sz="1600" b="1" kern="0" spc="150" dirty="0">
                <a:solidFill>
                  <a:schemeClr val="bg1"/>
                </a:solidFill>
                <a:latin typeface="Times New Roman" panose="02020603050405020304" pitchFamily="18" charset="0"/>
                <a:ea typeface="Calibri" pitchFamily="34" charset="-122"/>
                <a:cs typeface="Times New Roman" panose="02020603050405020304" pitchFamily="18" charset="0"/>
              </a:rPr>
              <a:t>DISCUSSION</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4" name="Text 2"/>
          <p:cNvSpPr/>
          <p:nvPr/>
        </p:nvSpPr>
        <p:spPr>
          <a:xfrm>
            <a:off x="769280" y="1019487"/>
            <a:ext cx="5394960" cy="3344935"/>
          </a:xfrm>
          <a:prstGeom prst="rect">
            <a:avLst/>
          </a:prstGeom>
          <a:noFill/>
          <a:ln w="19050">
            <a:solidFill>
              <a:schemeClr val="accent2">
                <a:lumMod val="40000"/>
                <a:lumOff val="60000"/>
              </a:schemeClr>
            </a:solidFill>
          </a:ln>
        </p:spPr>
        <p:txBody>
          <a:bodyPr wrap="square" rtlCol="0" anchor="t"/>
          <a:lstStyle/>
          <a:p>
            <a:pPr marL="342900" indent="-342900">
              <a:spcAft>
                <a:spcPts val="1200"/>
              </a:spcAft>
              <a:buSzPct val="100000"/>
              <a:buChar char="●"/>
            </a:pP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Children in Nigeria do not all face the same anemia risk, it's much higher for kids whose mothers are less educated, poorer, or live in rural areas.</a:t>
            </a:r>
            <a:endParaRPr lang="en-US" sz="1600" dirty="0">
              <a:latin typeface="Times New Roman" panose="02020603050405020304" pitchFamily="18" charset="0"/>
              <a:cs typeface="Times New Roman" panose="02020603050405020304" pitchFamily="18" charset="0"/>
            </a:endParaRPr>
          </a:p>
          <a:p>
            <a:pPr marL="342900" indent="-342900">
              <a:spcAft>
                <a:spcPts val="1200"/>
              </a:spcAft>
              <a:buSzPct val="100000"/>
              <a:buChar char="●"/>
            </a:pP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The pattern is strong and consistent across 10,182 children, enough to guide where prevention goes first.</a:t>
            </a:r>
            <a:endParaRPr lang="en-US" sz="1600" dirty="0">
              <a:latin typeface="Times New Roman" panose="02020603050405020304" pitchFamily="18" charset="0"/>
              <a:cs typeface="Times New Roman" panose="02020603050405020304" pitchFamily="18" charset="0"/>
            </a:endParaRPr>
          </a:p>
          <a:p>
            <a:pPr marL="342900" indent="-342900">
              <a:spcAft>
                <a:spcPts val="1200"/>
              </a:spcAft>
              <a:buSzPct val="100000"/>
              <a:buChar char="●"/>
            </a:pP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This survey alone can't prove which factor (income, diet, healthcare access, education) is doing the causal work.</a:t>
            </a:r>
          </a:p>
        </p:txBody>
      </p:sp>
      <p:sp>
        <p:nvSpPr>
          <p:cNvPr id="5" name="Shape 3"/>
          <p:cNvSpPr/>
          <p:nvPr/>
        </p:nvSpPr>
        <p:spPr>
          <a:xfrm>
            <a:off x="6432191" y="1267879"/>
            <a:ext cx="4965192" cy="4350774"/>
          </a:xfrm>
          <a:prstGeom prst="roundRect">
            <a:avLst>
              <a:gd name="adj" fmla="val 1860"/>
            </a:avLst>
          </a:prstGeom>
          <a:solidFill>
            <a:srgbClr val="F4F5F7"/>
          </a:solidFill>
          <a:ln/>
        </p:spPr>
        <p:txBody>
          <a:bodyPr/>
          <a:lstStyle/>
          <a:p>
            <a:endParaRPr sz="1600">
              <a:latin typeface="Times New Roman" panose="02020603050405020304" pitchFamily="18" charset="0"/>
              <a:cs typeface="Times New Roman" panose="02020603050405020304" pitchFamily="18" charset="0"/>
            </a:endParaRPr>
          </a:p>
        </p:txBody>
      </p:sp>
      <p:sp>
        <p:nvSpPr>
          <p:cNvPr id="6" name="Text 4"/>
          <p:cNvSpPr txBox="1"/>
          <p:nvPr/>
        </p:nvSpPr>
        <p:spPr>
          <a:xfrm>
            <a:off x="6752231" y="1496479"/>
            <a:ext cx="4371066" cy="302033"/>
          </a:xfrm>
          <a:prstGeom prst="rect">
            <a:avLst/>
          </a:prstGeom>
          <a:solidFill>
            <a:schemeClr val="accent3">
              <a:lumMod val="50000"/>
            </a:schemeClr>
          </a:solidFill>
          <a:ln/>
        </p:spPr>
        <p:txBody>
          <a:bodyPr wrap="square" rtlCol="0" anchor="ctr"/>
          <a:lstStyle/>
          <a:p>
            <a:pPr marL="0" indent="0">
              <a:buNone/>
            </a:pPr>
            <a:r>
              <a:rPr lang="en-US" sz="1600" b="1" kern="0" spc="150" dirty="0">
                <a:solidFill>
                  <a:schemeClr val="bg1"/>
                </a:solidFill>
                <a:latin typeface="Times New Roman" panose="02020603050405020304" pitchFamily="18" charset="0"/>
                <a:ea typeface="Calibri" pitchFamily="34" charset="-122"/>
                <a:cs typeface="Times New Roman" panose="02020603050405020304" pitchFamily="18" charset="0"/>
              </a:rPr>
              <a:t>LIMITATIONS</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Text 5"/>
          <p:cNvSpPr txBox="1"/>
          <p:nvPr/>
        </p:nvSpPr>
        <p:spPr>
          <a:xfrm>
            <a:off x="6752231" y="1907959"/>
            <a:ext cx="4371066" cy="3710694"/>
          </a:xfrm>
          <a:prstGeom prst="rect">
            <a:avLst/>
          </a:prstGeom>
          <a:noFill/>
          <a:ln/>
        </p:spPr>
        <p:txBody>
          <a:bodyPr wrap="square" rtlCol="0" anchor="t"/>
          <a:lstStyle/>
          <a:p>
            <a:pPr marL="342900" indent="-342900">
              <a:spcAft>
                <a:spcPts val="1200"/>
              </a:spcAft>
              <a:buSzPct val="100000"/>
              <a:buChar char="●"/>
            </a:pP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70% of children in the dataset had no valid anemia result recorded. We don't know whether that's because they were never tested, the test failed, or the data was simply not entered. This is a large gap.</a:t>
            </a:r>
          </a:p>
          <a:p>
            <a:pPr marL="342900" indent="-342900">
              <a:spcAft>
                <a:spcPts val="1200"/>
              </a:spcAft>
              <a:buSzPct val="100000"/>
              <a:buChar char="●"/>
            </a:pP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Two anemia fields existed for mother vs. child: resolved using DHS field definitions, not guesswork.</a:t>
            </a:r>
            <a:endParaRPr lang="en-US" sz="1600" dirty="0">
              <a:latin typeface="Times New Roman" panose="02020603050405020304" pitchFamily="18" charset="0"/>
              <a:cs typeface="Times New Roman" panose="02020603050405020304" pitchFamily="18" charset="0"/>
            </a:endParaRPr>
          </a:p>
          <a:p>
            <a:pPr marL="342900" indent="-342900">
              <a:spcAft>
                <a:spcPts val="1200"/>
              </a:spcAft>
              <a:buSzPct val="100000"/>
              <a:buChar char="●"/>
            </a:pP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The comparisons don't control for overlapping factors. For example, poorer mothers are also more likely to be less educated and rural, so we can't yet say which one is doing the heavier lifting.</a:t>
            </a:r>
          </a:p>
        </p:txBody>
      </p:sp>
      <p:sp>
        <p:nvSpPr>
          <p:cNvPr id="9" name="Text 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Times New Roman" panose="02020603050405020304" pitchFamily="18" charset="0"/>
                <a:ea typeface="Calibri" pitchFamily="34" charset="-122"/>
                <a:cs typeface="Times New Roman" panose="02020603050405020304" pitchFamily="18" charset="0"/>
              </a:rPr>
              <a:t>7</a:t>
            </a:r>
            <a:endParaRPr lang="en-US" sz="900" dirty="0">
              <a:latin typeface="Times New Roman" panose="02020603050405020304" pitchFamily="18" charset="0"/>
              <a:cs typeface="Times New Roman" panose="02020603050405020304" pitchFamily="18" charset="0"/>
            </a:endParaRPr>
          </a:p>
        </p:txBody>
      </p:sp>
      <p:sp>
        <p:nvSpPr>
          <p:cNvPr id="10" name="Text 12">
            <a:extLst>
              <a:ext uri="{FF2B5EF4-FFF2-40B4-BE49-F238E27FC236}">
                <a16:creationId xmlns:a16="http://schemas.microsoft.com/office/drawing/2014/main" id="{1D165DBD-5C39-2AA8-658A-14679A1F4CBE}"/>
              </a:ext>
            </a:extLst>
          </p:cNvPr>
          <p:cNvSpPr/>
          <p:nvPr/>
        </p:nvSpPr>
        <p:spPr>
          <a:xfrm>
            <a:off x="486696" y="6473952"/>
            <a:ext cx="7315200" cy="274320"/>
          </a:xfrm>
          <a:prstGeom prst="rect">
            <a:avLst/>
          </a:prstGeom>
          <a:noFill/>
          <a:ln/>
        </p:spPr>
        <p:txBody>
          <a:bodyPr wrap="square"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Children's Anemia in Nigeria (2018 NDHS)</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0"/>
            <a:ext cx="11091672" cy="64008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Recommendation &amp; Conclusion</a:t>
            </a:r>
            <a:endParaRPr lang="en-US" sz="3000" dirty="0">
              <a:latin typeface="Times New Roman" panose="02020603050405020304" pitchFamily="18" charset="0"/>
              <a:cs typeface="Times New Roman" panose="02020603050405020304" pitchFamily="18" charset="0"/>
            </a:endParaRPr>
          </a:p>
        </p:txBody>
      </p:sp>
      <p:sp>
        <p:nvSpPr>
          <p:cNvPr id="3" name="Text 1"/>
          <p:cNvSpPr txBox="1"/>
          <p:nvPr/>
        </p:nvSpPr>
        <p:spPr>
          <a:xfrm>
            <a:off x="791570" y="681024"/>
            <a:ext cx="5359021" cy="320040"/>
          </a:xfrm>
          <a:prstGeom prst="rect">
            <a:avLst/>
          </a:prstGeom>
          <a:solidFill>
            <a:schemeClr val="accent3">
              <a:lumMod val="50000"/>
            </a:schemeClr>
          </a:solidFill>
          <a:ln w="19050">
            <a:solidFill>
              <a:schemeClr val="accent2">
                <a:lumMod val="40000"/>
                <a:lumOff val="60000"/>
              </a:schemeClr>
            </a:solidFill>
          </a:ln>
        </p:spPr>
        <p:txBody>
          <a:bodyPr wrap="square" rtlCol="0" anchor="ctr"/>
          <a:lstStyle/>
          <a:p>
            <a:pPr marL="0" indent="0">
              <a:buNone/>
            </a:pPr>
            <a:r>
              <a:rPr lang="en-US" sz="1600" b="1" kern="0" spc="150" dirty="0">
                <a:solidFill>
                  <a:schemeClr val="bg1"/>
                </a:solidFill>
                <a:latin typeface="Times New Roman" panose="02020603050405020304" pitchFamily="18" charset="0"/>
                <a:ea typeface="Calibri" pitchFamily="34" charset="-122"/>
                <a:cs typeface="Times New Roman" panose="02020603050405020304" pitchFamily="18" charset="0"/>
              </a:rPr>
              <a:t>RECOMMENDATION</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4" name="Text 2"/>
          <p:cNvSpPr/>
          <p:nvPr/>
        </p:nvSpPr>
        <p:spPr>
          <a:xfrm>
            <a:off x="791570" y="1046783"/>
            <a:ext cx="5359021" cy="4657982"/>
          </a:xfrm>
          <a:prstGeom prst="rect">
            <a:avLst/>
          </a:prstGeom>
          <a:noFill/>
          <a:ln w="19050">
            <a:solidFill>
              <a:schemeClr val="accent2">
                <a:lumMod val="40000"/>
                <a:lumOff val="60000"/>
              </a:schemeClr>
            </a:solidFill>
          </a:ln>
        </p:spPr>
        <p:txBody>
          <a:bodyPr wrap="square" rtlCol="0" anchor="t"/>
          <a:lstStyle/>
          <a:p>
            <a:pPr marL="0" indent="0">
              <a:lnSpc>
                <a:spcPct val="125000"/>
              </a:lnSpc>
              <a:buNone/>
            </a:pP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Poorest families should come first, their kids have the highest anemia risk (79.5%), so free iron drops and fortified food should reach them before anyone else. Rural areas need more health workers too, since rural children stay more anemic than city children even at the same income level - something about distance to care is adding risk on its own. Because malaria is a known driver of anemia and hits these same poor, rural communities hardest, stronger malaria control there would help on both fronts. Mothers don't need a new program to learn about iron-rich foods, that guidance can just be added to checkups and vaccine visits they already attend. And bed net distribution to less-educated, rural households effort should continue, not shrink.</a:t>
            </a:r>
            <a:endParaRPr lang="en-US" sz="1600" dirty="0">
              <a:latin typeface="Times New Roman" panose="02020603050405020304" pitchFamily="18" charset="0"/>
              <a:cs typeface="Times New Roman" panose="02020603050405020304" pitchFamily="18" charset="0"/>
            </a:endParaRPr>
          </a:p>
        </p:txBody>
      </p:sp>
      <p:sp>
        <p:nvSpPr>
          <p:cNvPr id="5" name="Shape 3"/>
          <p:cNvSpPr/>
          <p:nvPr/>
        </p:nvSpPr>
        <p:spPr>
          <a:xfrm>
            <a:off x="6377600" y="1363419"/>
            <a:ext cx="4965192" cy="3710694"/>
          </a:xfrm>
          <a:prstGeom prst="roundRect">
            <a:avLst>
              <a:gd name="adj" fmla="val 1860"/>
            </a:avLst>
          </a:prstGeom>
          <a:solidFill>
            <a:srgbClr val="F4F5F7"/>
          </a:solidFill>
          <a:ln/>
        </p:spPr>
        <p:txBody>
          <a:bodyPr/>
          <a:lstStyle/>
          <a:p>
            <a:endParaRPr sz="1600">
              <a:latin typeface="Times New Roman" panose="02020603050405020304" pitchFamily="18" charset="0"/>
              <a:cs typeface="Times New Roman" panose="02020603050405020304" pitchFamily="18" charset="0"/>
            </a:endParaRPr>
          </a:p>
        </p:txBody>
      </p:sp>
      <p:sp>
        <p:nvSpPr>
          <p:cNvPr id="6" name="Text 4"/>
          <p:cNvSpPr txBox="1"/>
          <p:nvPr/>
        </p:nvSpPr>
        <p:spPr>
          <a:xfrm>
            <a:off x="6697640" y="1592019"/>
            <a:ext cx="4371066" cy="302033"/>
          </a:xfrm>
          <a:prstGeom prst="rect">
            <a:avLst/>
          </a:prstGeom>
          <a:solidFill>
            <a:schemeClr val="accent3">
              <a:lumMod val="50000"/>
            </a:schemeClr>
          </a:solidFill>
          <a:ln/>
        </p:spPr>
        <p:txBody>
          <a:bodyPr wrap="square" rtlCol="0" anchor="ctr"/>
          <a:lstStyle/>
          <a:p>
            <a:pPr marL="0" indent="0">
              <a:buNone/>
            </a:pPr>
            <a:r>
              <a:rPr lang="en-US" sz="1600" b="1" kern="0" spc="150" dirty="0">
                <a:solidFill>
                  <a:schemeClr val="bg1"/>
                </a:solidFill>
                <a:latin typeface="Times New Roman" panose="02020603050405020304" pitchFamily="18" charset="0"/>
                <a:ea typeface="Calibri" pitchFamily="34" charset="-122"/>
                <a:cs typeface="Times New Roman" panose="02020603050405020304" pitchFamily="18" charset="0"/>
              </a:rPr>
              <a:t>CONCLUSION</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Text 5"/>
          <p:cNvSpPr txBox="1"/>
          <p:nvPr/>
        </p:nvSpPr>
        <p:spPr>
          <a:xfrm>
            <a:off x="6697640" y="2003499"/>
            <a:ext cx="4371066" cy="2934037"/>
          </a:xfrm>
          <a:prstGeom prst="rect">
            <a:avLst/>
          </a:prstGeom>
          <a:noFill/>
          <a:ln/>
        </p:spPr>
        <p:txBody>
          <a:bodyPr wrap="square" rtlCol="0" anchor="t"/>
          <a:lstStyle/>
          <a:p>
            <a:pPr marL="0" indent="0">
              <a:lnSpc>
                <a:spcPct val="125000"/>
              </a:lnSpc>
              <a:buNone/>
            </a:pP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A clear socioeconomic gradient in childhood anemia: prevalence falls steadily as maternal education, household wealth rise, and rural children remain more exposed at every wealth level. Targeting anemia-prevention programs toward low-wealth, low-education, and rural households is where impact per child reached is highest.</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Times New Roman" panose="02020603050405020304" pitchFamily="18" charset="0"/>
                <a:ea typeface="Calibri" pitchFamily="34" charset="-122"/>
                <a:cs typeface="Times New Roman" panose="02020603050405020304" pitchFamily="18" charset="0"/>
              </a:rPr>
              <a:t>8</a:t>
            </a:r>
            <a:endParaRPr lang="en-US" sz="900" dirty="0">
              <a:latin typeface="Times New Roman" panose="02020603050405020304" pitchFamily="18" charset="0"/>
              <a:cs typeface="Times New Roman" panose="02020603050405020304" pitchFamily="18" charset="0"/>
            </a:endParaRPr>
          </a:p>
        </p:txBody>
      </p:sp>
      <p:sp>
        <p:nvSpPr>
          <p:cNvPr id="10" name="Text 12">
            <a:extLst>
              <a:ext uri="{FF2B5EF4-FFF2-40B4-BE49-F238E27FC236}">
                <a16:creationId xmlns:a16="http://schemas.microsoft.com/office/drawing/2014/main" id="{1D165DBD-5C39-2AA8-658A-14679A1F4CBE}"/>
              </a:ext>
            </a:extLst>
          </p:cNvPr>
          <p:cNvSpPr/>
          <p:nvPr/>
        </p:nvSpPr>
        <p:spPr>
          <a:xfrm>
            <a:off x="486696" y="6473952"/>
            <a:ext cx="7315200" cy="274320"/>
          </a:xfrm>
          <a:prstGeom prst="rect">
            <a:avLst/>
          </a:prstGeom>
          <a:noFill/>
          <a:ln/>
        </p:spPr>
        <p:txBody>
          <a:bodyPr wrap="square" rtlCol="0" anchor="ctr"/>
          <a:lstStyle/>
          <a:p>
            <a:pPr marL="0" indent="0">
              <a:buNone/>
            </a:pPr>
            <a:r>
              <a:rPr lang="en-US" sz="900" dirty="0">
                <a:latin typeface="Times New Roman" panose="02020603050405020304" pitchFamily="18" charset="0"/>
                <a:ea typeface="Calibri" pitchFamily="34" charset="-122"/>
                <a:cs typeface="Times New Roman" panose="02020603050405020304" pitchFamily="18" charset="0"/>
              </a:rPr>
              <a:t>Children's Anemia in Nigeria (2018 NDHS)</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407</TotalTime>
  <Words>1331</Words>
  <Application>Microsoft Office PowerPoint</Application>
  <PresentationFormat>Widescreen</PresentationFormat>
  <Paragraphs>92</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Calibri</vt:lpstr>
      <vt:lpstr>Garamond</vt:lpstr>
      <vt:lpstr>Times New Roman</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AMARI APPHIA ABU</dc:creator>
  <cp:lastModifiedBy>AMARI APPHIA ABU</cp:lastModifiedBy>
  <cp:revision>6</cp:revision>
  <dcterms:created xsi:type="dcterms:W3CDTF">2026-09-23T00:41:11Z</dcterms:created>
  <dcterms:modified xsi:type="dcterms:W3CDTF">2026-09-23T16:12:30Z</dcterms:modified>
</cp:coreProperties>
</file>